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4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0936" r:id="rId6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656671018540184E-2"/>
          <c:y val="2.457387326941252E-2"/>
          <c:w val="0.92383473542033601"/>
          <c:h val="0.89423428493099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22A3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5C-4201-A861-447926D5D0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[Segment/group]</c:v>
                </c:pt>
                <c:pt idx="1">
                  <c:v>[Focus]</c:v>
                </c:pt>
                <c:pt idx="2">
                  <c:v>[Segment/group]</c:v>
                </c:pt>
                <c:pt idx="3">
                  <c:v>[Segment/group]</c:v>
                </c:pt>
                <c:pt idx="4">
                  <c:v>[Segment/group]</c:v>
                </c:pt>
                <c:pt idx="5">
                  <c:v>[Segment/group]</c:v>
                </c:pt>
                <c:pt idx="6">
                  <c:v>[Segment/group]</c:v>
                </c:pt>
                <c:pt idx="7">
                  <c:v>[Segment/group]</c:v>
                </c:pt>
                <c:pt idx="8">
                  <c:v>[Segment/group]</c:v>
                </c:pt>
                <c:pt idx="9">
                  <c:v>[Segment/group]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670</c:v>
                </c:pt>
                <c:pt idx="1">
                  <c:v>623</c:v>
                </c:pt>
                <c:pt idx="2">
                  <c:v>580</c:v>
                </c:pt>
                <c:pt idx="3">
                  <c:v>564</c:v>
                </c:pt>
                <c:pt idx="4">
                  <c:v>514</c:v>
                </c:pt>
                <c:pt idx="5">
                  <c:v>421</c:v>
                </c:pt>
                <c:pt idx="6">
                  <c:v>376</c:v>
                </c:pt>
                <c:pt idx="7">
                  <c:v>360</c:v>
                </c:pt>
                <c:pt idx="8">
                  <c:v>342</c:v>
                </c:pt>
                <c:pt idx="9">
                  <c:v>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95C-4201-A861-447926D5D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58103200"/>
        <c:axId val="1158104032"/>
      </c:barChart>
      <c:catAx>
        <c:axId val="115810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61F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4032"/>
        <c:crosses val="autoZero"/>
        <c:auto val="1"/>
        <c:lblAlgn val="ctr"/>
        <c:lblOffset val="100"/>
        <c:noMultiLvlLbl val="0"/>
      </c:catAx>
      <c:valAx>
        <c:axId val="1158104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FFFFF">
                  <a:lumMod val="75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61F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5810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+mn-lt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Relationship Id="rId5" Type="http://schemas.openxmlformats.org/officeDocument/2006/relationships/chart" Target="../charts/chart1.xml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er_title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{{slide_title}}</a:t>
            </a:r>
            <a:endParaRPr lang="en-DK" dirty="0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80302009-C849-4759-AE2E-25289DE3A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C319087-CB06-4062-E8AD-D8212E21D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43A095F5-D89E-048B-48B0-FCC260CD2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27348"/>
              </p:ext>
            </p:extLst>
          </p:nvPr>
        </p:nvGraphicFramePr>
        <p:xfrm>
          <a:off x="585789" y="2901966"/>
          <a:ext cx="7178108" cy="3255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332D289-03AC-9227-AD23-E7C56149CB8F}"/>
              </a:ext>
            </a:extLst>
          </p:cNvPr>
          <p:cNvSpPr txBox="1"/>
          <p:nvPr/>
        </p:nvSpPr>
        <p:spPr>
          <a:xfrm>
            <a:off x="467805" y="2404437"/>
            <a:ext cx="1948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D9AD1-07F9-AFFC-AC98-4FE692D1B509}"/>
              </a:ext>
            </a:extLst>
          </p:cNvPr>
          <p:cNvSpPr txBox="1"/>
          <p:nvPr/>
        </p:nvSpPr>
        <p:spPr>
          <a:xfrm>
            <a:off x="558609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[Description]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ADC1C1-2BA7-97EE-76F5-B67E3765B10C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CC8A5F1-98A2-1F3A-939B-593EF4217C9D}"/>
              </a:ext>
            </a:extLst>
          </p:cNvPr>
          <p:cNvSpPr txBox="1"/>
          <p:nvPr/>
        </p:nvSpPr>
        <p:spPr>
          <a:xfrm>
            <a:off x="558609" y="2404437"/>
            <a:ext cx="194863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[Unit]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40360-A768-70A0-1FAF-9C8EB4BF2886}"/>
              </a:ext>
            </a:extLst>
          </p:cNvPr>
          <p:cNvSpPr txBox="1"/>
          <p:nvPr/>
        </p:nvSpPr>
        <p:spPr>
          <a:xfrm>
            <a:off x="8106032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[Key takeaways/main conclusion]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5EAC6F-C9F7-3ADD-7257-A05F59267023}"/>
              </a:ext>
            </a:extLst>
          </p:cNvPr>
          <p:cNvCxnSpPr>
            <a:cxnSpLocks/>
          </p:cNvCxnSpPr>
          <p:nvPr/>
        </p:nvCxnSpPr>
        <p:spPr>
          <a:xfrm>
            <a:off x="7980920" y="16573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C0943D-0AB2-1B8D-76DF-1EB3FC60D9F0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3FECCA-8695-6FF1-2AD3-1166356FF9D5}"/>
              </a:ext>
            </a:extLst>
          </p:cNvPr>
          <p:cNvSpPr txBox="1"/>
          <p:nvPr/>
        </p:nvSpPr>
        <p:spPr>
          <a:xfrm>
            <a:off x="8240476" y="2551261"/>
            <a:ext cx="34006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latin typeface="Arial" panose="020B0604020202020204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765E51FE-8CE3-A461-0D59-5E61548E42B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01DF431F-8446-03A0-5D76-4A41F3E83C06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63940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9">
    <a:dk1>
      <a:srgbClr val="000000"/>
    </a:dk1>
    <a:lt1>
      <a:srgbClr val="FFFFFF"/>
    </a:lt1>
    <a:dk2>
      <a:srgbClr val="FFFFFF"/>
    </a:dk2>
    <a:lt2>
      <a:srgbClr val="FFFFFF"/>
    </a:lt2>
    <a:accent1>
      <a:srgbClr val="1F6FD8"/>
    </a:accent1>
    <a:accent2>
      <a:srgbClr val="B7472A"/>
    </a:accent2>
    <a:accent3>
      <a:srgbClr val="F5E3DF"/>
    </a:accent3>
    <a:accent4>
      <a:srgbClr val="424242"/>
    </a:accent4>
    <a:accent5>
      <a:srgbClr val="D9D9D9"/>
    </a:accent5>
    <a:accent6>
      <a:srgbClr val="F0F0F0"/>
    </a:accent6>
    <a:hlink>
      <a:srgbClr val="555555"/>
    </a:hlink>
    <a:folHlink>
      <a:srgbClr val="333333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