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2"/>
  </p:notesMasterIdLst>
  <p:handoutMasterIdLst>
    <p:handoutMasterId r:id="rId23"/>
  </p:handoutMasterIdLst>
  <p:sldIdLst>
    <p:sldId id="2147471300" r:id="rId17"/>
  </p:sldIdLst>
  <p:sldSz cx="12192000" cy="6858000"/>
  <p:notesSz cx="6858000" cy="9144000"/>
  <p:custDataLst>
    <p:tags r:id="rId2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Front pages and content" id="{BC9888E5-F834-E647-B48A-AE32FE14E7C7}">
          <p14:sldIdLst>
            <p14:sldId id="2147471081"/>
          </p14:sldIdLst>
        </p14:section>
        <p14:section name="2. Executive summary" id="{76D3C88E-DD0F-C54E-8DB9-A598ACEB0C2B}">
          <p14:sldIdLst>
            <p14:sldId id="2147471029"/>
            <p14:sldId id="214747103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a. Column and bar charts" id="{D5BF2741-60F4-4A4D-AFFD-CE7747095E63}">
          <p14:sldIdLst>
            <p14:sldId id="2147470936"/>
          </p14:sldIdLst>
        </p14:section>
        <p14:section name="5a. Slides describing trends or main takeaways/actions" id="{FCBD28AF-4C20-B143-AD6E-2F35EEE8B858}">
          <p14:sldIdLst>
            <p14:sldId id="2147471130"/>
            <p14:sldId id="2147470516"/>
            <p14:sldId id="2147470930"/>
          </p14:sldIdLst>
        </p14:section>
        <p14:section name="5b. Assessment and option comparison slides" id="{52CD5E4C-118B-1042-82B9-D34B5D2ADB5E}">
          <p14:sldIdLst>
            <p14:sldId id="2147473382"/>
            <p14:sldId id="2147471209"/>
          </p14:sldIdLst>
        </p14:section>
        <p14:section name="5f. Process and customer journey slides" id="{A0B21068-1BAD-4847-ABDE-CFC6ACF11CCA}">
          <p14:sldIdLst>
            <p14:sldId id="214747128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3381"/>
            <p14:sldId id="2147471276"/>
            <p14:sldId id="2305"/>
            <p14:sldId id="2147471300"/>
          </p14:sldIdLst>
        </p14:section>
        <p14:section name="6a. One or two page roadmap/timeline slides" id="{410A2D61-34ED-E84A-AACC-E91C8C7DDC7A}">
          <p14:sldIdLst>
            <p14:sldId id="2147473354"/>
          </p14:sldIdLst>
        </p14:section>
        <p14:section name="6b. Detailed implementation plan" id="{D5FCF174-1770-0448-AA33-2FAC07039000}">
          <p14:sldIdLst>
            <p14:sldId id="2147473379"/>
          </p14:sldIdLst>
        </p14:section>
        <p14:section name="Appendix A. Frameworks" id="{C3D61537-03AB-A44E-B8D9-6456ABA3BD67}">
          <p14:sldIdLst>
            <p14:sldId id="2147471518"/>
          </p14:sldIdLst>
        </p14:section>
        <p14:section name="End" id="{4294C5DB-D966-6844-ADE1-3492AD7FCC36}">
          <p14:sldIdLst>
            <p14:sldId id="2147473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103"/>
    <a:srgbClr val="291D01"/>
    <a:srgbClr val="FDF3D7"/>
    <a:srgbClr val="99E6A9"/>
    <a:srgbClr val="D9EED3"/>
    <a:srgbClr val="8AE694"/>
    <a:srgbClr val="F0ACAD"/>
    <a:srgbClr val="D8EED2"/>
    <a:srgbClr val="FFD2D3"/>
    <a:srgbClr val="F9D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/>
    <p:restoredTop sz="93688"/>
  </p:normalViewPr>
  <p:slideViewPr>
    <p:cSldViewPr snapToGrid="0" showGuides="1">
      <p:cViewPr varScale="1">
        <p:scale>
          <a:sx n="104" d="100"/>
          <a:sy n="104" d="100"/>
        </p:scale>
        <p:origin x="594" y="9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7" Type="http://schemas.openxmlformats.org/officeDocument/2006/relationships/slide" Target="slides/slide16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03/26/2026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03/26/2026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02B4A1-1790-3247-9A67-BF82FCEE6CDC}" type="slidenum">
              <a:rPr kumimoji="0" lang="en-DK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DK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040632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tags" Target="../tags/tag24.xml"/><Relationship Id="rId52" Type="http://schemas.openxmlformats.org/officeDocument/2006/relationships/tags" Target="../tags/tag25.xml"/><Relationship Id="rId53" Type="http://schemas.openxmlformats.org/officeDocument/2006/relationships/tags" Target="../tags/tag26.xml"/><Relationship Id="rId54" Type="http://schemas.openxmlformats.org/officeDocument/2006/relationships/tags" Target="../tags/tag27.xml"/><Relationship Id="rId55" Type="http://schemas.openxmlformats.org/officeDocument/2006/relationships/tags" Target="../tags/tag28.xml"/><Relationship Id="rId56" Type="http://schemas.openxmlformats.org/officeDocument/2006/relationships/tags" Target="../tags/tag29.xml"/><Relationship Id="rId57" Type="http://schemas.openxmlformats.org/officeDocument/2006/relationships/tags" Target="../tags/tag30.xml"/><Relationship Id="rId58" Type="http://schemas.openxmlformats.org/officeDocument/2006/relationships/tags" Target="../tags/tag31.xml"/><Relationship Id="rId59" Type="http://schemas.openxmlformats.org/officeDocument/2006/relationships/tags" Target="../tags/tag32.xml"/><Relationship Id="rId60" Type="http://schemas.openxmlformats.org/officeDocument/2006/relationships/tags" Target="../tags/tag33.xml"/><Relationship Id="rId61" Type="http://schemas.openxmlformats.org/officeDocument/2006/relationships/tags" Target="../tags/tag34.xml"/><Relationship Id="rId62" Type="http://schemas.openxmlformats.org/officeDocument/2006/relationships/tags" Target="../tags/tag35.xml"/><Relationship Id="rId63" Type="http://schemas.openxmlformats.org/officeDocument/2006/relationships/tags" Target="../tags/tag36.xml"/><Relationship Id="rId64" Type="http://schemas.openxmlformats.org/officeDocument/2006/relationships/tags" Target="../tags/tag37.xml"/><Relationship Id="rId65" Type="http://schemas.openxmlformats.org/officeDocument/2006/relationships/tags" Target="../tags/tag38.xml"/><Relationship Id="rId66" Type="http://schemas.openxmlformats.org/officeDocument/2006/relationships/tags" Target="../tags/tag39.xml"/><Relationship Id="rId67" Type="http://schemas.openxmlformats.org/officeDocument/2006/relationships/tags" Target="../tags/tag40.xml"/><Relationship Id="rId68" Type="http://schemas.openxmlformats.org/officeDocument/2006/relationships/tags" Target="../tags/tag41.xml"/><Relationship Id="rId69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42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header_title">
            <a:extLst>
              <a:ext uri="{FF2B5EF4-FFF2-40B4-BE49-F238E27FC236}">
                <a16:creationId xmlns:a16="http://schemas.microsoft.com/office/drawing/2014/main" id="{34CB72B2-C58B-78F7-EBA6-0391CA39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{{slide_title}}</a:t>
            </a:r>
            <a:endParaRPr lang="en-DK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C3F8BF-6E40-0908-12D9-3CDEB93558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hallenges_header">
            <a:extLst>
              <a:ext uri="{FF2B5EF4-FFF2-40B4-BE49-F238E27FC236}">
                <a16:creationId xmlns:a16="http://schemas.microsoft.com/office/drawing/2014/main" id="{712CE328-ACCF-AA43-A244-DF9D5FEFC639}"/>
              </a:ext>
            </a:extLst>
          </p:cNvPr>
          <p:cNvSpPr/>
          <p:nvPr/>
        </p:nvSpPr>
        <p:spPr>
          <a:xfrm>
            <a:off x="554736" y="1712167"/>
            <a:ext cx="5211581" cy="387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Challenges</a:t>
            </a:r>
          </a:p>
        </p:txBody>
      </p:sp>
      <p:sp>
        <p:nvSpPr>
          <p:cNvPr id="63" name="solutions_header">
            <a:extLst>
              <a:ext uri="{FF2B5EF4-FFF2-40B4-BE49-F238E27FC236}">
                <a16:creationId xmlns:a16="http://schemas.microsoft.com/office/drawing/2014/main" id="{0F9BF22C-CED9-BE47-B1DA-FBDD7238A8E1}"/>
              </a:ext>
            </a:extLst>
          </p:cNvPr>
          <p:cNvSpPr/>
          <p:nvPr/>
        </p:nvSpPr>
        <p:spPr>
          <a:xfrm>
            <a:off x="6425189" y="1712167"/>
            <a:ext cx="5212080" cy="3879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Solutions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72DBDB-2A18-0B4B-AF96-B00C871DD17D}"/>
              </a:ext>
            </a:extLst>
          </p:cNvPr>
          <p:cNvCxnSpPr>
            <a:cxnSpLocks/>
          </p:cNvCxnSpPr>
          <p:nvPr/>
        </p:nvCxnSpPr>
        <p:spPr>
          <a:xfrm flipH="1">
            <a:off x="554736" y="3432326"/>
            <a:ext cx="110825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88ECA7B-943C-E242-ADCD-6C40F18B6819}"/>
              </a:ext>
            </a:extLst>
          </p:cNvPr>
          <p:cNvSpPr txBox="1"/>
          <p:nvPr/>
        </p:nvSpPr>
        <p:spPr>
          <a:xfrm>
            <a:off x="783771" y="2223160"/>
            <a:ext cx="4982538" cy="11586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5760" tIns="91440" rIns="91440" bIns="91440" rtlCol="0" anchor="ctr">
            <a:noAutofit/>
          </a:bodyPr>
          <a:lstStyle/>
          <a:p>
            <a:pPr marR="0" lvl="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/>
            </a:pPr>
            <a:r>
              <a:rPr lang="en-GB" sz="1600">
                <a:ea typeface="+mn-lt"/>
                <a:cs typeface="+mn-lt"/>
              </a:rPr>
              <a:t>{{challenge_1}}</a:t>
            </a:r>
            <a:endParaRPr lang="de-DE">
              <a:ea typeface="+mn-ea"/>
              <a:cs typeface="+mn-cs"/>
            </a:endParaRPr>
          </a:p>
        </p:txBody>
      </p:sp>
      <p:sp>
        <p:nvSpPr>
          <p:cNvPr id="2" name="Google Shape;507;p14">
            <a:extLst>
              <a:ext uri="{FF2B5EF4-FFF2-40B4-BE49-F238E27FC236}">
                <a16:creationId xmlns:a16="http://schemas.microsoft.com/office/drawing/2014/main" id="{A8D9FCF6-687C-A254-590E-19B66A37F5F9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ea typeface="+mn-lt"/>
                <a:cs typeface="+mn-lt"/>
                <a:sym typeface="Arial"/>
              </a:rPr>
              <a:t>{{source}}</a:t>
            </a:r>
            <a:endParaRPr lang="de-DE"/>
          </a:p>
        </p:txBody>
      </p:sp>
      <p:sp>
        <p:nvSpPr>
          <p:cNvPr id="3" name="Google Shape;538;p14">
            <a:extLst>
              <a:ext uri="{FF2B5EF4-FFF2-40B4-BE49-F238E27FC236}">
                <a16:creationId xmlns:a16="http://schemas.microsoft.com/office/drawing/2014/main" id="{CF34A821-33D7-19B7-7819-3A60EBDF9EE9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ea typeface="+mn-lt"/>
                <a:cs typeface="+mn-lt"/>
                <a:sym typeface="Arial"/>
              </a:rPr>
              <a:t>{{footnote}}</a:t>
            </a:r>
            <a:endParaRPr lang="de-D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0339F5-9942-196B-57A9-994F67F159C9}"/>
              </a:ext>
            </a:extLst>
          </p:cNvPr>
          <p:cNvSpPr txBox="1"/>
          <p:nvPr/>
        </p:nvSpPr>
        <p:spPr>
          <a:xfrm>
            <a:off x="6425189" y="2223160"/>
            <a:ext cx="5212080" cy="11586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91440" rIns="91440" bIns="91440" rtlCol="0" anchor="ctr">
            <a:noAutofit/>
          </a:bodyPr>
          <a:lstStyle/>
          <a:p>
            <a:pPr marR="0" lvl="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/>
            </a:pPr>
            <a:r>
              <a:rPr lang="en-GB" sz="1600">
                <a:ea typeface="+mn-lt"/>
                <a:cs typeface="+mn-lt"/>
              </a:rPr>
              <a:t>{{solution_1}}</a:t>
            </a:r>
            <a:endParaRPr lang="de-DE"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86341ED-D03D-CE45-0A0A-69DCBC227858}"/>
              </a:ext>
            </a:extLst>
          </p:cNvPr>
          <p:cNvCxnSpPr>
            <a:cxnSpLocks/>
          </p:cNvCxnSpPr>
          <p:nvPr/>
        </p:nvCxnSpPr>
        <p:spPr>
          <a:xfrm flipH="1">
            <a:off x="554736" y="4691991"/>
            <a:ext cx="1108252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riangle 22">
            <a:extLst>
              <a:ext uri="{FF2B5EF4-FFF2-40B4-BE49-F238E27FC236}">
                <a16:creationId xmlns:a16="http://schemas.microsoft.com/office/drawing/2014/main" id="{46433443-3355-CB7D-B7EA-93B05C20AAFF}"/>
              </a:ext>
            </a:extLst>
          </p:cNvPr>
          <p:cNvSpPr/>
          <p:nvPr/>
        </p:nvSpPr>
        <p:spPr>
          <a:xfrm rot="5400000">
            <a:off x="5907124" y="2664608"/>
            <a:ext cx="377252" cy="275771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4DFBD740-AAE8-22AA-FA3E-B019709B2D36}"/>
              </a:ext>
            </a:extLst>
          </p:cNvPr>
          <p:cNvSpPr/>
          <p:nvPr/>
        </p:nvSpPr>
        <p:spPr>
          <a:xfrm rot="5400000">
            <a:off x="5907124" y="3924273"/>
            <a:ext cx="377252" cy="275771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26" name="Triangle 25">
            <a:extLst>
              <a:ext uri="{FF2B5EF4-FFF2-40B4-BE49-F238E27FC236}">
                <a16:creationId xmlns:a16="http://schemas.microsoft.com/office/drawing/2014/main" id="{5060892F-4C9E-141F-318A-905A00A61D2B}"/>
              </a:ext>
            </a:extLst>
          </p:cNvPr>
          <p:cNvSpPr/>
          <p:nvPr/>
        </p:nvSpPr>
        <p:spPr>
          <a:xfrm rot="5400000">
            <a:off x="5907124" y="5183938"/>
            <a:ext cx="377252" cy="275771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BB32DE-8843-4C5B-2258-30F274D9F519}"/>
              </a:ext>
            </a:extLst>
          </p:cNvPr>
          <p:cNvSpPr txBox="1"/>
          <p:nvPr/>
        </p:nvSpPr>
        <p:spPr>
          <a:xfrm>
            <a:off x="783771" y="3482825"/>
            <a:ext cx="4982538" cy="11586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5760" tIns="91440" rIns="91440" bIns="91440" rtlCol="0" anchor="ctr">
            <a:noAutofit/>
          </a:bodyPr>
          <a:lstStyle/>
          <a:p>
            <a:pPr marR="0" lvl="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/>
            </a:pPr>
            <a:r>
              <a:rPr lang="en-GB" sz="1600">
                <a:ea typeface="+mn-lt"/>
                <a:cs typeface="+mn-lt"/>
              </a:rPr>
              <a:t>{{challenge_2}}</a:t>
            </a:r>
            <a:endParaRPr lang="de-DE"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8F8040-34B2-326E-E8C5-FBA409B772BF}"/>
              </a:ext>
            </a:extLst>
          </p:cNvPr>
          <p:cNvSpPr txBox="1"/>
          <p:nvPr/>
        </p:nvSpPr>
        <p:spPr>
          <a:xfrm>
            <a:off x="6425189" y="3482825"/>
            <a:ext cx="5212080" cy="11586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91440" rIns="91440" bIns="91440" rtlCol="0" anchor="ctr">
            <a:noAutofit/>
          </a:bodyPr>
          <a:lstStyle/>
          <a:p>
            <a:pPr marR="0" lvl="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/>
            </a:pPr>
            <a:r>
              <a:rPr lang="en-GB" sz="1600">
                <a:ea typeface="+mn-lt"/>
                <a:cs typeface="+mn-lt"/>
              </a:rPr>
              <a:t>{{solution_2}}</a:t>
            </a:r>
            <a:endParaRPr lang="de-DE"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A59BC3-5E2A-FB90-ED0D-A5285D1F8487}"/>
              </a:ext>
            </a:extLst>
          </p:cNvPr>
          <p:cNvSpPr txBox="1"/>
          <p:nvPr/>
        </p:nvSpPr>
        <p:spPr>
          <a:xfrm>
            <a:off x="783771" y="4742490"/>
            <a:ext cx="4982538" cy="11586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365760" tIns="91440" rIns="91440" bIns="91440" rtlCol="0" anchor="ctr">
            <a:noAutofit/>
          </a:bodyPr>
          <a:lstStyle/>
          <a:p>
            <a:pPr marR="0" lvl="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/>
            </a:pPr>
            <a:r>
              <a:rPr lang="en-GB" sz="1600">
                <a:ea typeface="+mn-lt"/>
                <a:cs typeface="+mn-lt"/>
              </a:rPr>
              <a:t>{{challenge_3}}</a:t>
            </a:r>
            <a:endParaRPr lang="de-DE"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122DAD-9FF7-459F-7A3A-C853F0360EB9}"/>
              </a:ext>
            </a:extLst>
          </p:cNvPr>
          <p:cNvSpPr txBox="1"/>
          <p:nvPr/>
        </p:nvSpPr>
        <p:spPr>
          <a:xfrm>
            <a:off x="6425189" y="4742490"/>
            <a:ext cx="5212080" cy="115866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91440" tIns="91440" rIns="91440" bIns="91440" rtlCol="0" anchor="ctr">
            <a:noAutofit/>
          </a:bodyPr>
          <a:lstStyle/>
          <a:p>
            <a:pPr marR="0" lvl="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/>
            </a:pPr>
            <a:r>
              <a:rPr lang="en-GB" sz="1600">
                <a:ea typeface="+mn-lt"/>
                <a:cs typeface="+mn-lt"/>
              </a:rPr>
              <a:t>{{solution_3}}</a:t>
            </a:r>
            <a:endParaRPr lang="de-DE"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5CF8556-BDDF-B26E-50BB-A581EC8C1899}"/>
              </a:ext>
            </a:extLst>
          </p:cNvPr>
          <p:cNvSpPr/>
          <p:nvPr/>
        </p:nvSpPr>
        <p:spPr>
          <a:xfrm>
            <a:off x="554736" y="2573039"/>
            <a:ext cx="457200" cy="457200"/>
          </a:xfrm>
          <a:prstGeom prst="ellipse">
            <a:avLst/>
          </a:prstGeom>
          <a:solidFill>
            <a:schemeClr val="accent1"/>
          </a:solidFill>
          <a:ln w="952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DAB2F34-D6F9-46A6-99FB-B98FC4B9E902}"/>
              </a:ext>
            </a:extLst>
          </p:cNvPr>
          <p:cNvSpPr/>
          <p:nvPr/>
        </p:nvSpPr>
        <p:spPr>
          <a:xfrm>
            <a:off x="554736" y="3833131"/>
            <a:ext cx="457200" cy="457200"/>
          </a:xfrm>
          <a:prstGeom prst="ellipse">
            <a:avLst/>
          </a:prstGeom>
          <a:solidFill>
            <a:schemeClr val="accent1"/>
          </a:solidFill>
          <a:ln w="952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>
                <a:solidFill>
                  <a:schemeClr val="bg1"/>
                </a:solidFill>
              </a:rPr>
              <a:t>2</a:t>
            </a:r>
            <a:endParaRPr lang="en-US" sz="1600">
              <a:solidFill>
                <a:schemeClr val="bg1"/>
              </a:solidFill>
              <a:cs typeface="Arial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7E8FD92-10D9-6962-8BED-8DA0405C67F4}"/>
              </a:ext>
            </a:extLst>
          </p:cNvPr>
          <p:cNvSpPr/>
          <p:nvPr/>
        </p:nvSpPr>
        <p:spPr>
          <a:xfrm>
            <a:off x="554736" y="5093223"/>
            <a:ext cx="457200" cy="457200"/>
          </a:xfrm>
          <a:prstGeom prst="ellipse">
            <a:avLst/>
          </a:prstGeom>
          <a:solidFill>
            <a:schemeClr val="accent1"/>
          </a:solidFill>
          <a:ln w="9525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>
                <a:solidFill>
                  <a:schemeClr val="bg1"/>
                </a:solidFill>
              </a:rPr>
              <a:t>3</a:t>
            </a:r>
            <a:endParaRPr lang="en-US" sz="1600">
              <a:solidFill>
                <a:schemeClr val="bg1"/>
              </a:solidFill>
              <a:cs typeface="Arial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42E02E9-0128-A435-CB52-9ED2FBAF4744}"/>
              </a:ext>
            </a:extLst>
          </p:cNvPr>
          <p:cNvCxnSpPr>
            <a:cxnSpLocks/>
          </p:cNvCxnSpPr>
          <p:nvPr/>
        </p:nvCxnSpPr>
        <p:spPr>
          <a:xfrm>
            <a:off x="554736" y="2100156"/>
            <a:ext cx="5211581" cy="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66AF357-1B43-02FC-3D91-BF23C0C7963D}"/>
              </a:ext>
            </a:extLst>
          </p:cNvPr>
          <p:cNvCxnSpPr>
            <a:cxnSpLocks/>
          </p:cNvCxnSpPr>
          <p:nvPr/>
        </p:nvCxnSpPr>
        <p:spPr>
          <a:xfrm>
            <a:off x="6425688" y="2100156"/>
            <a:ext cx="5211581" cy="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7792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0</TotalTime>
  <Words>1617</Words>
  <Application>Microsoft Office PowerPoint</Application>
  <PresentationFormat>Widescreen</PresentationFormat>
  <Paragraphs>376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Georgia Pro Light</vt:lpstr>
      <vt:lpstr>Segoe UI</vt:lpstr>
      <vt:lpstr>Wingdings</vt:lpstr>
      <vt:lpstr>Slideworks</vt:lpstr>
      <vt:lpstr>think-cell Slide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[Five key areas slide / Insert action title]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Bertan Bopp</cp:lastModifiedBy>
  <cp:revision>634</cp:revision>
  <dcterms:created xsi:type="dcterms:W3CDTF">2025-08-27T08:42:55Z</dcterms:created>
  <dcterms:modified xsi:type="dcterms:W3CDTF">2026-03-26T00:28:59Z</dcterms:modified>
  <cp:category>Management consulting, presentation design, business</cp:category>
</cp:coreProperties>
</file>