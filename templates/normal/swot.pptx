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1518" r:id="rId20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0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19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93050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C2B03538-6937-7092-F4D2-615DC66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{{slide_title}}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02B9905-7897-5A2C-970A-F4E918D2BD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30160" y="100540"/>
            <a:ext cx="4007104" cy="123111"/>
          </a:xfrm>
        </p:spPr>
        <p:txBody>
          <a:bodyPr/>
          <a:lstStyle/>
          <a:p>
            <a:r>
              <a:rPr lang="en-US" dirty="0"/>
              <a:t>Appendix A: Frameworks</a:t>
            </a:r>
          </a:p>
        </p:txBody>
      </p:sp>
      <p:sp>
        <p:nvSpPr>
          <p:cNvPr id="4" name="s_title">
            <a:extLst>
              <a:ext uri="{FF2B5EF4-FFF2-40B4-BE49-F238E27FC236}">
                <a16:creationId xmlns:a16="http://schemas.microsoft.com/office/drawing/2014/main" id="{169FBDD6-FFB8-1A87-BCB9-E81C063BE4F9}"/>
              </a:ext>
            </a:extLst>
          </p:cNvPr>
          <p:cNvSpPr/>
          <p:nvPr/>
        </p:nvSpPr>
        <p:spPr>
          <a:xfrm>
            <a:off x="467805" y="1345079"/>
            <a:ext cx="5490000" cy="346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/>
              </a:rPr>
              <a:t>Strengths</a:t>
            </a:r>
          </a:p>
        </p:txBody>
      </p:sp>
      <p:sp>
        <p:nvSpPr>
          <p:cNvPr id="5" name="w_title">
            <a:extLst>
              <a:ext uri="{FF2B5EF4-FFF2-40B4-BE49-F238E27FC236}">
                <a16:creationId xmlns:a16="http://schemas.microsoft.com/office/drawing/2014/main" id="{68CC59F9-2262-8AD8-CF54-6DBEF30F7DB9}"/>
              </a:ext>
            </a:extLst>
          </p:cNvPr>
          <p:cNvSpPr/>
          <p:nvPr/>
        </p:nvSpPr>
        <p:spPr>
          <a:xfrm>
            <a:off x="6164565" y="1345079"/>
            <a:ext cx="5490000" cy="3464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Weaknesses</a:t>
            </a:r>
          </a:p>
        </p:txBody>
      </p:sp>
      <p:sp>
        <p:nvSpPr>
          <p:cNvPr id="6" name="o_title">
            <a:extLst>
              <a:ext uri="{FF2B5EF4-FFF2-40B4-BE49-F238E27FC236}">
                <a16:creationId xmlns:a16="http://schemas.microsoft.com/office/drawing/2014/main" id="{2AEAED2C-7762-9201-5923-9705AECBC393}"/>
              </a:ext>
            </a:extLst>
          </p:cNvPr>
          <p:cNvSpPr/>
          <p:nvPr/>
        </p:nvSpPr>
        <p:spPr>
          <a:xfrm>
            <a:off x="467805" y="3867126"/>
            <a:ext cx="5490000" cy="346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Arial" panose="020B0604020202020204"/>
              </a:rPr>
              <a:t>Opportunities</a:t>
            </a:r>
          </a:p>
        </p:txBody>
      </p:sp>
      <p:sp>
        <p:nvSpPr>
          <p:cNvPr id="7" name="t_title">
            <a:extLst>
              <a:ext uri="{FF2B5EF4-FFF2-40B4-BE49-F238E27FC236}">
                <a16:creationId xmlns:a16="http://schemas.microsoft.com/office/drawing/2014/main" id="{A3A4147E-5E80-C126-06E0-8E9943ECBEB5}"/>
              </a:ext>
            </a:extLst>
          </p:cNvPr>
          <p:cNvSpPr/>
          <p:nvPr/>
        </p:nvSpPr>
        <p:spPr>
          <a:xfrm>
            <a:off x="6164565" y="3867126"/>
            <a:ext cx="5490000" cy="3464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Threats</a:t>
            </a:r>
          </a:p>
        </p:txBody>
      </p:sp>
      <p:sp>
        <p:nvSpPr>
          <p:cNvPr id="8" name="Oval 40">
            <a:extLst>
              <a:ext uri="{FF2B5EF4-FFF2-40B4-BE49-F238E27FC236}">
                <a16:creationId xmlns:a16="http://schemas.microsoft.com/office/drawing/2014/main" id="{522F08DB-7D8A-8CEE-8706-B5DF15204B8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7806" y="1733296"/>
            <a:ext cx="5490000" cy="19677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round/>
            <a:headEnd/>
            <a:tailEnd/>
          </a:ln>
          <a:effectLst/>
        </p:spPr>
        <p:txBody>
          <a:bodyPr wrap="square" lIns="91440" tIns="91440" rIns="91440" bIns="91440" anchor="t"/>
          <a:lstStyle/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{{</a:t>
            </a:r>
            <a:r>
              <a:rPr lang="en-US" sz="1200" dirty="0" err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strengths_bullets</a:t>
            </a:r>
            <a:r>
              <a:rPr lang="en-US" sz="1200" dirty="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}}</a:t>
            </a:r>
            <a:endParaRPr lang="en-US" sz="1200" kern="1200" dirty="0">
              <a:solidFill>
                <a:schemeClr val="tx2">
                  <a:lumMod val="10000"/>
                </a:schemeClr>
              </a:solidFill>
              <a:ea typeface="+mn-ea"/>
              <a:cs typeface="+mn-cs"/>
            </a:endParaRP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{{</a:t>
            </a:r>
            <a:r>
              <a:rPr lang="en-US" sz="1200" dirty="0" err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strengths_bullets</a:t>
            </a:r>
            <a:r>
              <a:rPr lang="en-US" sz="1200" dirty="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}}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{{</a:t>
            </a:r>
            <a:r>
              <a:rPr lang="en-US" sz="1200" dirty="0" err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strengths_bullets</a:t>
            </a:r>
            <a:r>
              <a:rPr lang="en-US" sz="1200" dirty="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}}</a:t>
            </a:r>
            <a:endParaRPr lang="en-US" sz="1200" kern="1200" dirty="0">
              <a:solidFill>
                <a:schemeClr val="tx2">
                  <a:lumMod val="10000"/>
                </a:schemeClr>
              </a:solidFill>
              <a:ea typeface="+mn-lt"/>
              <a:cs typeface="+mn-lt"/>
            </a:endParaRPr>
          </a:p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…</a:t>
            </a:r>
          </a:p>
        </p:txBody>
      </p:sp>
      <p:sp>
        <p:nvSpPr>
          <p:cNvPr id="9" name="Oval 40">
            <a:extLst>
              <a:ext uri="{FF2B5EF4-FFF2-40B4-BE49-F238E27FC236}">
                <a16:creationId xmlns:a16="http://schemas.microsoft.com/office/drawing/2014/main" id="{36B9EB55-72A0-B265-AE9D-F7404D9DC7B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64565" y="1733296"/>
            <a:ext cx="5490000" cy="19677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round/>
            <a:headEnd/>
            <a:tailEnd/>
          </a:ln>
          <a:effectLst/>
        </p:spPr>
        <p:txBody>
          <a:bodyPr wrap="square" lIns="91440" tIns="91440" rIns="91440" bIns="91440" anchor="t"/>
          <a:lstStyle/>
          <a:p>
            <a:pPr marL="225425" marR="0" lvl="0" indent="-17145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{{weaknesses_bullets}}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{{weaknesses_bullets}}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{{weaknesses_bullets}}</a:t>
            </a:r>
          </a:p>
          <a:p>
            <a:pPr marL="225425" marR="0" lvl="0" indent="-17145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…</a:t>
            </a:r>
          </a:p>
        </p:txBody>
      </p:sp>
      <p:sp>
        <p:nvSpPr>
          <p:cNvPr id="10" name="Oval 40">
            <a:extLst>
              <a:ext uri="{FF2B5EF4-FFF2-40B4-BE49-F238E27FC236}">
                <a16:creationId xmlns:a16="http://schemas.microsoft.com/office/drawing/2014/main" id="{8F45A77B-44C1-79A5-0635-7D16EDEFD36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7806" y="4255344"/>
            <a:ext cx="5490000" cy="19677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round/>
            <a:headEnd/>
            <a:tailEnd/>
          </a:ln>
          <a:effectLst/>
        </p:spPr>
        <p:txBody>
          <a:bodyPr wrap="square" lIns="91440" tIns="91440" rIns="91440" bIns="91440" anchor="t"/>
          <a:lstStyle/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{{opportunities_bullets}}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{{opportunities_bullets}}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{{opportunities_bullets}}</a:t>
            </a:r>
          </a:p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…</a:t>
            </a:r>
          </a:p>
        </p:txBody>
      </p:sp>
      <p:sp>
        <p:nvSpPr>
          <p:cNvPr id="11" name="Oval 40">
            <a:extLst>
              <a:ext uri="{FF2B5EF4-FFF2-40B4-BE49-F238E27FC236}">
                <a16:creationId xmlns:a16="http://schemas.microsoft.com/office/drawing/2014/main" id="{9906B0DC-44F7-D7C0-3A34-645E03D6E1D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64565" y="4255344"/>
            <a:ext cx="5490000" cy="19677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round/>
            <a:headEnd/>
            <a:tailEnd/>
          </a:ln>
          <a:effectLst/>
        </p:spPr>
        <p:txBody>
          <a:bodyPr wrap="square" lIns="91440" tIns="91440" rIns="91440" bIns="91440" anchor="t"/>
          <a:lstStyle/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{{threats_bullets}}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200" kern="1200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{{threats_bullets}}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200" kern="1200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{{threats_bullets}}</a:t>
            </a:r>
          </a:p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802015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