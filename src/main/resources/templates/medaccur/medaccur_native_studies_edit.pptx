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EE"/>
    <a:srgbClr val="8068DA"/>
    <a:srgbClr val="946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2250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AFE6-AAFB-408A-B60B-F63FC43993AA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38A67-D60F-4B73-BA77-89F7B299D43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24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8A67-D60F-4B73-BA77-89F7B299D43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81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254" y="109728"/>
            <a:ext cx="749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46304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PIVOTAL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(BLENREP) · Relapsed/Refractory Multiple Myeloma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685800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DREAMM-7 · Study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76" y="898375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DREAMM-7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776" y="1321751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Phase 3, </a:t>
            </a:r>
            <a:r>
              <a:rPr dirty="0" err="1"/>
              <a:t>randomised</a:t>
            </a:r>
            <a:r>
              <a:rPr dirty="0"/>
              <a:t>, open-label · 2L+ RRMM · N=494 (1:1)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320" y="17282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 err="1"/>
              <a:t>Belmaf</a:t>
            </a:r>
            <a:r>
              <a:rPr dirty="0"/>
              <a:t> 2.5 mg/kg Q3W + 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9320" y="200253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Bortezomib + Dex (</a:t>
            </a:r>
            <a:r>
              <a:rPr dirty="0" err="1"/>
              <a:t>BorDex</a:t>
            </a:r>
            <a:r>
              <a:rPr dirty="0"/>
              <a:t>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320" y="227685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Progression-Free Survival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9320" y="255117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16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≥1 prior line · PI or </a:t>
            </a:r>
            <a:r>
              <a:rPr dirty="0" err="1"/>
              <a:t>IMiD</a:t>
            </a:r>
            <a:r>
              <a:rPr dirty="0"/>
              <a:t> exp.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320" y="282549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2316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1:1 · Stratified by prior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9320" y="309981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1968" y="3099815"/>
            <a:ext cx="1261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March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648456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4592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2608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6" y="3721608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Notable Adverse Events — Bel-maf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050791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GRADE 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" y="4215383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Keratopathy 43%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439826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Thrombocytopenia 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458114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 err="1"/>
              <a:t>Anaemia</a:t>
            </a:r>
            <a:r>
              <a:rPr dirty="0"/>
              <a:t> 17%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" y="476402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Neutropenia 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7" y="5020056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ANY GRADE — OCULAR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" y="531246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Blurred vision 68%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549534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Dry eye 34%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567822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Infusion reaction 22%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0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26080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54096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63824" y="6858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Efficacy Outcomes — Bel-maf vs BorDex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40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54096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55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mPFS — Bel-maf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36.6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4201" y="1244271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55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95% CI: 24.0–NR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114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1496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29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mPFS — BorDex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29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1600" y="1244271"/>
            <a:ext cx="39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029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95% CI: 11.1–17.5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540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54096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455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ORR — Bel-maf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71676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83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4201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455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 25% · VGPR 36%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14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11496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29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ORR — BorDex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29076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1600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29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CR 13% · VGPR 21%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26080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54096" y="2642616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HAZARD RATIO · PRIMARY ENDPOINT (PFS)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2744088"/>
            <a:ext cx="19339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0.41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4920" y="291693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t>Superior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4096" y="3300984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95% CI: 0.31–0.53 · p &lt; 0.001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54096" y="3538727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35806" y="3538727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59% reduction in risk of progression or death vs </a:t>
            </a:r>
            <a:r>
              <a:rPr dirty="0" err="1"/>
              <a:t>BorDex</a:t>
            </a:r>
            <a:r>
              <a:rPr dirty="0"/>
              <a:t>. Clinically meaningful PFS benefit in 2L+ RRMM, supporting regulatory and HTA positioning.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4096" y="4153960"/>
            <a:ext cx="4041648" cy="15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OVERALL SURVIVAL (SECONDARY)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4096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mOS</a:t>
            </a:r>
            <a:r>
              <a:rPr dirty="0"/>
              <a:t> Bel-</a:t>
            </a:r>
            <a:r>
              <a:rPr dirty="0" err="1"/>
              <a:t>maf</a:t>
            </a:r>
            <a:endParaRPr dirty="0"/>
          </a:p>
        </p:txBody>
      </p:sp>
      <p:sp>
        <p:nvSpPr>
          <p:cNvPr id="92" name="TextBox 91"/>
          <p:cNvSpPr txBox="1"/>
          <p:nvPr/>
        </p:nvSpPr>
        <p:spPr>
          <a:xfrm>
            <a:off x="3054096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1312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mOS BorDex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1312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48528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HR (OS)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48528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0.77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5038344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54096" y="5129784"/>
            <a:ext cx="40416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ADDITIONAL ENDPOINTS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54096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2y OS Bel-maf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54096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81%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1312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 Rate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1312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66.5%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48528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DOR Median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48528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33488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33488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61504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71231" y="685800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mPFS Comparison — Bel-maf vs BorDex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24927" y="3575303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90688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24927" y="2976589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0688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24927" y="2377875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0688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424927" y="1779161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90688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24927" y="1180446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90688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90688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90688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87768" y="935589"/>
            <a:ext cx="8458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mPFS</a:t>
            </a:r>
            <a:r>
              <a:rPr dirty="0"/>
              <a:t> (</a:t>
            </a:r>
            <a:r>
              <a:rPr dirty="0" err="1"/>
              <a:t>mo</a:t>
            </a:r>
            <a:r>
              <a:rPr dirty="0"/>
              <a:t>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15883" y="1438873"/>
            <a:ext cx="1280160" cy="2191294"/>
          </a:xfrm>
          <a:prstGeom prst="rect">
            <a:avLst/>
          </a:prstGeom>
          <a:gradFill>
            <a:gsLst>
              <a:gs pos="0">
                <a:srgbClr val="7030A0"/>
              </a:gs>
              <a:gs pos="61000">
                <a:srgbClr val="7030A0">
                  <a:lumMod val="76000"/>
                  <a:lumOff val="24000"/>
                </a:srgbClr>
              </a:gs>
              <a:gs pos="87000">
                <a:srgbClr val="8068DA"/>
              </a:gs>
              <a:gs pos="100000">
                <a:srgbClr val="9469CD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59197" y="3381104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36.6 </a:t>
            </a:r>
            <a:r>
              <a:rPr dirty="0" err="1">
                <a:solidFill>
                  <a:schemeClr val="bg1"/>
                </a:solidFill>
              </a:rPr>
              <a:t>mo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1244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Bel-maf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4684" y="2827890"/>
            <a:ext cx="1280160" cy="80227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61000">
                <a:schemeClr val="bg1">
                  <a:lumMod val="75000"/>
                </a:schemeClr>
              </a:gs>
              <a:gs pos="87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71613" y="3394750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13.4 </a:t>
            </a:r>
            <a:r>
              <a:rPr dirty="0" err="1">
                <a:solidFill>
                  <a:schemeClr val="bg1"/>
                </a:solidFill>
              </a:rPr>
              <a:t>mo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9532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BorDex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0688" y="3904487"/>
            <a:ext cx="3959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Cross-trial — not head-to-head · Interpret with caution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33488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333488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33488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61504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71231" y="4270248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Overall Response Rate Comparison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73567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Bel-maf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1804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BorDex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33488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CR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33489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VGPR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3489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t>PR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NCT04246047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7" y="4818887"/>
            <a:ext cx="403479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973567" y="5129783"/>
            <a:ext cx="581009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973567" y="5440679"/>
            <a:ext cx="355061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99026" y="4768297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04612" y="5081199"/>
            <a:ext cx="505062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36%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6535" y="5394789"/>
            <a:ext cx="4753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22%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61804" y="4818887"/>
            <a:ext cx="209809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65971" y="4773196"/>
            <a:ext cx="4948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861804" y="5129783"/>
            <a:ext cx="338922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786933" y="5084092"/>
            <a:ext cx="4812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61804" y="5440679"/>
            <a:ext cx="613288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797425" y="5405621"/>
            <a:ext cx="534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6</cp:revision>
  <dcterms:created xsi:type="dcterms:W3CDTF">2013-01-27T09:14:16Z</dcterms:created>
  <dcterms:modified xsi:type="dcterms:W3CDTF">2026-03-31T16:07:29Z</dcterms:modified>
  <cp:category/>
</cp:coreProperties>
</file>