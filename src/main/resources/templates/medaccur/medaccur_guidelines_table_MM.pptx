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7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548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188" y="10972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B5CF6"/>
                </a:solidFill>
                <a:latin typeface="Calibri"/>
              </a:defRPr>
            </a:pPr>
            <a:r>
              <a:rPr dirty="0" err="1"/>
              <a:t>accur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1554480" y="109728"/>
            <a:ext cx="1828800" cy="347472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00200" y="13716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GUIDELINES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097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Calibri"/>
              </a:defRPr>
            </a:pPr>
            <a:r>
              <a:t>Belantamab Mafodotin (BLENREP) · RRMM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37160"/>
            <a:ext cx="1280160" cy="292608"/>
          </a:xfrm>
          <a:prstGeom prst="roundRect">
            <a:avLst/>
          </a:prstGeom>
          <a:solidFill>
            <a:srgbClr val="25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89720" y="15544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CBD5E1"/>
                </a:solidFill>
                <a:latin typeface="Calibri"/>
              </a:defRPr>
            </a:pPr>
            <a:r>
              <a:t>Phase 3 · RCT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61320" y="137160"/>
            <a:ext cx="1280160" cy="292608"/>
          </a:xfrm>
          <a:prstGeom prst="roundRect">
            <a:avLst/>
          </a:prstGeom>
          <a:solidFill>
            <a:srgbClr val="25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07040" y="15544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CD34D"/>
                </a:solidFill>
                <a:latin typeface="Calibri"/>
              </a:defRPr>
            </a:pPr>
            <a:r>
              <a:t>Germany · 2027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66928"/>
            <a:ext cx="12188952" cy="502920"/>
          </a:xfrm>
          <a:prstGeom prst="rect">
            <a:avLst/>
          </a:prstGeom>
          <a:solidFill>
            <a:srgbClr val="F5F3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Guideline Recommendations: Belantamab Mafodotin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766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Calibri"/>
              </a:defRPr>
            </a:pPr>
            <a:r>
              <a:t>RRMM · ≥2 prior lines · Germany 2027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AFB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" y="65653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ESMO 2024 · NCCN v4.2024 · EMN-EHA · Onkopedia · IMWG · NICE · SFH · AIOM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65653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8B5CF6"/>
                </a:solidFill>
                <a:latin typeface="Calibri"/>
              </a:defRPr>
            </a:pPr>
            <a:r>
              <a:t>98% Confidence · medaccur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1261872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Calibri"/>
              </a:defRPr>
            </a:pPr>
            <a:r>
              <a:t>Guideline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73552" y="1261872"/>
            <a:ext cx="1225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Calibri"/>
              </a:defRPr>
            </a:pPr>
            <a:r>
              <a:t>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2" y="1261872"/>
            <a:ext cx="1225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16752" y="126187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Calibri"/>
              </a:defRPr>
            </a:pPr>
            <a:r>
              <a:t>Recommendation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2" y="1261872"/>
            <a:ext cx="2898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Calibri"/>
              </a:defRPr>
            </a:pPr>
            <a:r>
              <a:t>Source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1554480"/>
            <a:ext cx="1127455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0352" y="1627632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ESMO 2024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73552" y="162763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2L+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2" y="162763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PI/IMiD exposed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16752" y="1627632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Recommended (Level I, Grade A) — BVd as preferred option for PI/IMiD-exposed RRMM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17152" y="1627632"/>
            <a:ext cx="2898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Dimopoulos et al. Ann Oncol 2024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057400"/>
            <a:ext cx="11274552" cy="502920"/>
          </a:xfrm>
          <a:prstGeom prst="rect">
            <a:avLst/>
          </a:prstGeom>
          <a:solidFill>
            <a:srgbClr val="F8FA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0352" y="2130552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NCCN v4.2024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73552" y="213055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2L+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5152" y="213055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After ≥1 prior 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16752" y="2130552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Category 1 — Preferred regimen: Belantamab + BorDex (DREAMM-7)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17152" y="2130552"/>
            <a:ext cx="2898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NCCN Guidelines MM v4.2024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2560320"/>
            <a:ext cx="1127455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0352" y="2633472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EMN-EHA 2024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73552" y="263347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2L+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45152" y="263347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Len-refractory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16752" y="2633472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Strong recommendation — BVd for lenalidomide-refractory patients based on DREAMM-7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17152" y="2633472"/>
            <a:ext cx="2898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Sonneveld et al. EHA 2024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063240"/>
            <a:ext cx="11274552" cy="502920"/>
          </a:xfrm>
          <a:prstGeom prst="rect">
            <a:avLst/>
          </a:prstGeom>
          <a:solidFill>
            <a:srgbClr val="F8FA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30352" y="3136392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Onkopedia DGHO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73552" y="313639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2L+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45152" y="313639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After daratumumab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16752" y="3136392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Empfehlung — BVd nach Daratumumab-Versagen, besonders bei PI/IMiD-Refraktärität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7152" y="3136392"/>
            <a:ext cx="2898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Onkopedia Leitlinie MM 2024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3566160"/>
            <a:ext cx="1127455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30352" y="3639312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IMS/IMWG 2024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73552" y="363931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2–4L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45152" y="363931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Triple-class exposed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16752" y="3639312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Recommended — BCMA-targeting ADC for triple-class exposed, especially if CAR-T not available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17152" y="3639312"/>
            <a:ext cx="2898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Rajkumar SV. Blood 2024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069080"/>
            <a:ext cx="11274552" cy="502920"/>
          </a:xfrm>
          <a:prstGeom prst="rect">
            <a:avLst/>
          </a:prstGeom>
          <a:solidFill>
            <a:srgbClr val="F8FA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30352" y="4142232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BSH (UK)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73552" y="414223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3L+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45152" y="414223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After anti-CD38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16752" y="4142232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Recommended by NICE TA — BVd after prior anti-CD38 and lenalidomide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17152" y="4142232"/>
            <a:ext cx="2898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NICE TA987 2024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4572000"/>
            <a:ext cx="1127455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30352" y="4645152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SFH (France)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73552" y="464515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2L+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45152" y="464515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Refractory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16752" y="4645152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ATU nominative → AMM pending — BVd data from DREAMM-7 reviewed favorably by HAS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17152" y="4645152"/>
            <a:ext cx="2898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SFH Recommandations 2024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5074920"/>
            <a:ext cx="11274552" cy="502920"/>
          </a:xfrm>
          <a:prstGeom prst="rect">
            <a:avLst/>
          </a:prstGeom>
          <a:solidFill>
            <a:srgbClr val="F8FA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30352" y="5148072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AIOM (Italy)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73552" y="514807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2L+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45152" y="514807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PI/IMiD exposed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16752" y="5148072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  <a:latin typeface="Calibri"/>
              </a:defRPr>
            </a:pPr>
            <a:r>
              <a:t>Raccomandazione forte — BVd based on DREAMM-7 PFS benefit (HR 0.41)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17152" y="5148072"/>
            <a:ext cx="2898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AIOM Linee Guida MM 2024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Calibri"/>
              </a:defRPr>
            </a:pPr>
            <a:r>
              <a:t>Belantamab mafodotin + BorDex is recommended across all major international and European guidelines for 2L+ RRMM after prior PI/IMiD exposure, with NCCN Category 1 and ESMO Grade A evidence levels.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292</Words>
  <Application>Microsoft Office PowerPoint</Application>
  <PresentationFormat>Custom</PresentationFormat>
  <Paragraphs>56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Bertan</dc:creator>
  <cp:keywords/>
  <dc:description>generated using python-pptx</dc:description>
  <cp:lastModifiedBy>Bertan Bopp</cp:lastModifiedBy>
  <cp:revision>2</cp:revision>
  <dcterms:created xsi:type="dcterms:W3CDTF">2013-01-27T09:14:16Z</dcterms:created>
  <dcterms:modified xsi:type="dcterms:W3CDTF">2026-04-01T21:20:51Z</dcterms:modified>
  <cp:category/>
</cp:coreProperties>
</file>