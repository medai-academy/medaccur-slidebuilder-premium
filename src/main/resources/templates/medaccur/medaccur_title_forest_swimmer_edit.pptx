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0" d="100"/>
          <a:sy n="120" d="100"/>
        </p:scale>
        <p:origin x="198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37192" y="-457200"/>
            <a:ext cx="2560320" cy="2560320"/>
          </a:xfrm>
          <a:prstGeom prst="ellipse">
            <a:avLst/>
          </a:prstGeom>
          <a:noFill/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02952" y="-457200"/>
            <a:ext cx="1828800" cy="1828800"/>
          </a:xfrm>
          <a:prstGeom prst="ellipse">
            <a:avLst/>
          </a:prstGeom>
          <a:noFill/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-457200"/>
            <a:ext cx="1097280" cy="1097280"/>
          </a:xfrm>
          <a:prstGeom prst="ellipse">
            <a:avLst/>
          </a:prstGeom>
          <a:noFill/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3961" y="365760"/>
            <a:ext cx="743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576" y="3657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2194560" cy="329184"/>
          </a:xfrm>
          <a:prstGeom prst="round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2388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MEDICAL AFFAIRS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t>Belantamab Mafodotin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 i="0">
                <a:solidFill>
                  <a:srgbClr val="C4B5FD"/>
                </a:solidFill>
                <a:latin typeface="Arial"/>
              </a:defRPr>
            </a:pPr>
            <a:r>
              <a:t>(BLENREP)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Relapsed/Refractory Multiple Myeloma (RRMM)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4572000" cy="91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9776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Medical Affairs Strategic Plan · Germany · 2027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60"/>
            <a:ext cx="2651760" cy="640080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5029200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Prepared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521208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Medical Affairs Leadership Team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4937760"/>
            <a:ext cx="2651760" cy="640080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19856" y="5029200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521208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Confidential · Internal Use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937760"/>
            <a:ext cx="2651760" cy="640080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54496" y="5029200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521208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January 2027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937760"/>
            <a:ext cx="2651760" cy="640080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89136" y="5029200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521208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1.0 · Draft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5760720"/>
            <a:ext cx="2286000" cy="329184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0" y="57790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8B5CF6"/>
                </a:solidFill>
                <a:latin typeface="Arial"/>
              </a:defRPr>
            </a:pPr>
            <a:r>
              <a:t>97% Confidence · medaccur ELISE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0" b="1" i="0">
                <a:solidFill>
                  <a:srgbClr val="2D286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54864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t>Pivotal Study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DREAMM-7 · Phase 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Key efficacy and safety data from the pivotal randomised controlled trial in relapsed/refractory multiple myeloma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3017520"/>
            <a:ext cx="2560320" cy="329184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0" y="3017520"/>
            <a:ext cx="45720" cy="3291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0" y="307238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FFFFFF"/>
                </a:solidFill>
                <a:latin typeface="Arial"/>
              </a:defRPr>
            </a:pPr>
            <a:r>
              <a:t>Study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419856"/>
            <a:ext cx="2560320" cy="329184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0" y="347472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Efficacy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822191"/>
            <a:ext cx="2560320" cy="329184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3877055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Safety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4224528"/>
            <a:ext cx="2560320" cy="329184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427939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Subgroups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581" y="6309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rPr dirty="0" err="1"/>
              <a:t>accur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17320" y="109728"/>
            <a:ext cx="1645920" cy="274320"/>
          </a:xfrm>
          <a:prstGeom prst="round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FOREST PLOT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DREAMM-7 · PFS Subgroup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" y="785584"/>
            <a:ext cx="11859768" cy="561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658368"/>
            <a:ext cx="11859768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592" y="987552"/>
            <a:ext cx="1185976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2608" y="749808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73151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PFS Hazard Ratio by Subgroup — Bel-maf vs BorDex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" y="1060704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Subgroup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0607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060704"/>
            <a:ext cx="8428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dirty="0"/>
              <a:t>HR (95% CI)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06070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Favours Bel-maf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06070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Favours BorDex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1238019"/>
            <a:ext cx="1082649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30585" y="1280160"/>
            <a:ext cx="9144" cy="4754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90686" y="5779007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0.2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3566" y="5733288"/>
            <a:ext cx="457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15780" y="5779007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0.5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98660" y="5733288"/>
            <a:ext cx="457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47705" y="5779007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1.0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30585" y="5733288"/>
            <a:ext cx="457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79630" y="5779007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62510" y="5733288"/>
            <a:ext cx="457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184" y="1298448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184" y="1316736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Overall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131673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494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1316736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0.41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42153" y="1394460"/>
            <a:ext cx="1185287" cy="91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iamond 34"/>
          <p:cNvSpPr/>
          <p:nvPr/>
        </p:nvSpPr>
        <p:spPr>
          <a:xfrm>
            <a:off x="7105200" y="1344168"/>
            <a:ext cx="109728" cy="109728"/>
          </a:xfrm>
          <a:prstGeom prst="diamond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9184" y="170078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" y="1920240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  &lt; 65 years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192024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210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192024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0.38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66735" y="1997964"/>
            <a:ext cx="1859947" cy="91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950979" y="1961388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9184" y="2103120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184" y="212140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  ≥ 65 years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212140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284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0" y="2121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0.43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69684" y="2199132"/>
            <a:ext cx="1604393" cy="91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224178" y="2162556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9184" y="250545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Prior Lines of Therapy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" y="272491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  1 prior 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272491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156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0" y="272491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0.35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84211" y="2802636"/>
            <a:ext cx="2064917" cy="91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769225" y="2766060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29184" y="2907791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9184" y="2926079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  2–3 prior lines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292607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220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23360" y="2926079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0.44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42153" y="3003803"/>
            <a:ext cx="1567287" cy="91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274988" y="2967227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9184" y="312724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  ≥ 4 prior lines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312724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118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3360" y="312724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0.47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94758" y="3204972"/>
            <a:ext cx="2129293" cy="91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420761" y="3168396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29184" y="351129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Refractory Status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9184" y="3712464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29184" y="37307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  PI-refractory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3280" y="373075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310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23360" y="37307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0.40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94758" y="3808476"/>
            <a:ext cx="1414546" cy="91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064343" y="3771900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29184" y="3931919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  IMiD-refractory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83280" y="393191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280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23360" y="3931919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0.42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69684" y="4009644"/>
            <a:ext cx="1494779" cy="91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172174" y="3973068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29184" y="4114800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29184" y="4133087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  Double-refractory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83280" y="4133087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195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23360" y="4133087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0.39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53417" y="4210812"/>
            <a:ext cx="1773266" cy="91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7008388" y="4174236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29184" y="451713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ECOG PS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9184" y="473659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  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0" y="47365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198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23360" y="473659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0.36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2454" y="4814316"/>
            <a:ext cx="1966674" cy="91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831485" y="4777740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329184" y="4919472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29184" y="4937759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  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83280" y="493775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270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23360" y="4937759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0.45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80329" y="5015484"/>
            <a:ext cx="1393748" cy="91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324655" y="4978908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29184" y="532180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ISS Stage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9184" y="5541264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  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83280" y="5541264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160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23360" y="554126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0.38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76515" y="5618988"/>
            <a:ext cx="2025094" cy="91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6950979" y="5582412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29184" y="5724144"/>
            <a:ext cx="10826496" cy="20116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29184" y="5742431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  II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83280" y="5742431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190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23360" y="5742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0.41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317203" y="5820156"/>
            <a:ext cx="1684405" cy="91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118916" y="5783580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29184" y="5943599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  III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83280" y="5943599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130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23360" y="5943599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t>0.48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69684" y="6021324"/>
            <a:ext cx="2083258" cy="91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7467292" y="5984748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933188" y="6131051"/>
            <a:ext cx="6217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dirty="0"/>
              <a:t>p-interaction &gt; 0.05 for all subgroups — consistent benefit across all pre-specified subgroups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Dimopoulos MA et al. NEJM 2024 · NCT04246047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Source-verified · medaccur ELISE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17320" y="109728"/>
            <a:ext cx="1645920" cy="274320"/>
          </a:xfrm>
          <a:prstGeom prst="round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SWIMMER PLOT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DREAMM-7 · Duration of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" y="658368"/>
            <a:ext cx="11859768" cy="5541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658368"/>
            <a:ext cx="11859768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592" y="987552"/>
            <a:ext cx="1185976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2608" y="821370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731519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Individual Patient Response Duration — Bel-maf Arm (Best Responders)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" y="1060704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64748B"/>
                </a:solidFill>
                <a:latin typeface="Arial"/>
              </a:defRPr>
            </a:pPr>
            <a:r>
              <a:t>Patient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060704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64748B"/>
                </a:solidFill>
                <a:latin typeface="Arial"/>
              </a:defRPr>
            </a:pPr>
            <a:r>
              <a:t>Time on Treatment (months)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760720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53788" y="5760720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0948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56017" y="5760720"/>
            <a:ext cx="3017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3177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30813" y="5760720"/>
            <a:ext cx="3017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5405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0474" y="5760720"/>
            <a:ext cx="3017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97634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80662" y="5760720"/>
            <a:ext cx="3563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99862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64931" y="5760720"/>
            <a:ext cx="28346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36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02091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558016" y="5760720"/>
            <a:ext cx="28346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42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704320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9184" y="1243584"/>
            <a:ext cx="1137513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9184" y="1289304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184" y="12984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P01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8720" y="1298448"/>
            <a:ext cx="10014857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185289" y="1298448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" y="1520791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P02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88720" y="1520791"/>
            <a:ext cx="9514114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84546" y="1520791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" y="1733991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9184" y="1743135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P03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88720" y="1743135"/>
            <a:ext cx="9013371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183803" y="1743135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" y="196547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P04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88720" y="1965478"/>
            <a:ext cx="9013371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83803" y="1965478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6366F1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" y="2178678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9184" y="218782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P05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88720" y="2187822"/>
            <a:ext cx="8512628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83060" y="2187822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" y="2410165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P06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88720" y="2410165"/>
            <a:ext cx="8262257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32689" y="2410165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6366F1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9184" y="2623365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9184" y="2632509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P07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88720" y="2632509"/>
            <a:ext cx="8011885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82317" y="2632509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6366F1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9184" y="2854853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P08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88720" y="2854853"/>
            <a:ext cx="7511142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81574" y="2854853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9184" y="3068052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9184" y="307719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P09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88720" y="3077196"/>
            <a:ext cx="7010399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17408" y="3058908"/>
            <a:ext cx="146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EF4444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9184" y="32995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P10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88720" y="3299540"/>
            <a:ext cx="6509657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680089" y="3299540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6366F1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9184" y="3512739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9184" y="3521883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P11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88720" y="3521883"/>
            <a:ext cx="6259285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66293" y="3503595"/>
            <a:ext cx="146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EF4444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9184" y="3744227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P12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88720" y="3744227"/>
            <a:ext cx="6008914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179346" y="3744227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6366F1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9184" y="3957426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29184" y="396657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P13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188720" y="3966570"/>
            <a:ext cx="5508171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715179" y="3948282"/>
            <a:ext cx="146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EF4444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9184" y="418891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P14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88720" y="4188914"/>
            <a:ext cx="5007428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177860" y="4188914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6366F1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9184" y="4402114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29184" y="441125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P15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88720" y="4411258"/>
            <a:ext cx="4506685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713693" y="4392970"/>
            <a:ext cx="146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EF4444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9184" y="4633601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P16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188720" y="4633601"/>
            <a:ext cx="4005942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212950" y="4615313"/>
            <a:ext cx="146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EF4444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9184" y="4846801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29184" y="4855945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P17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188720" y="4855945"/>
            <a:ext cx="3505199" cy="201168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712207" y="4837657"/>
            <a:ext cx="146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EF4444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9184" y="507828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P18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88720" y="5078288"/>
            <a:ext cx="3004457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211465" y="5060000"/>
            <a:ext cx="146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EF4444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9184" y="5291488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29184" y="53006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P19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188720" y="5292681"/>
            <a:ext cx="2503714" cy="201168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710722" y="5282344"/>
            <a:ext cx="146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EF4444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9184" y="5522975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P20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188720" y="5522975"/>
            <a:ext cx="2002971" cy="201168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209979" y="5504688"/>
            <a:ext cx="146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EF4444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" y="5779007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64748B"/>
                </a:solidFill>
                <a:latin typeface="Arial"/>
              </a:defRPr>
            </a:pPr>
            <a:r>
              <a:t>Legend: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" y="5797295"/>
            <a:ext cx="27432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335024" y="5779007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CR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828800" y="5797295"/>
            <a:ext cx="274320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157984" y="5779007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VGPR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651760" y="5797295"/>
            <a:ext cx="27432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980944" y="5779007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474720" y="5797295"/>
            <a:ext cx="274320" cy="10972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803904" y="5779007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SD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0" y="5779007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8B5CF6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54880" y="5779007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Ongoing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824329" y="5779007"/>
            <a:ext cx="146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EF4444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07209" y="5779007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4748B"/>
                </a:solidFill>
                <a:latin typeface="Arial"/>
              </a:defRPr>
            </a:pPr>
            <a:r>
              <a:t>Progression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20969" y="5865876"/>
            <a:ext cx="4389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Median DOR: NR (95% CI: 24.0–NR) · Ongoing responses: 12/20 (60%)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Dimopoulos MA et al. NEJM 2024 · NCT04246047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Source-verified · medaccur ELISE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Office PowerPoint</Application>
  <PresentationFormat>Custom</PresentationFormat>
  <Paragraphs>157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Bertan Bopp</cp:lastModifiedBy>
  <cp:revision>3</cp:revision>
  <dcterms:created xsi:type="dcterms:W3CDTF">2013-01-27T09:14:16Z</dcterms:created>
  <dcterms:modified xsi:type="dcterms:W3CDTF">2026-03-31T22:18:35Z</dcterms:modified>
  <cp:category/>
</cp:coreProperties>
</file>