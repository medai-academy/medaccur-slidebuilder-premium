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1074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5303" y="109728"/>
            <a:ext cx="6390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med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3857" y="109728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8B5CF6"/>
                </a:solidFill>
                <a:latin typeface="Calibri"/>
              </a:defRPr>
            </a:pPr>
            <a:r>
              <a:rPr dirty="0" err="1"/>
              <a:t>accur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1554480" y="109728"/>
            <a:ext cx="1828800" cy="347472"/>
          </a:xfrm>
          <a:prstGeom prst="round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00200" y="13716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WATERFALL PLOT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0972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CBD5E1"/>
                </a:solidFill>
                <a:latin typeface="Calibri"/>
              </a:defRPr>
            </a:pPr>
            <a:r>
              <a:t>{{drug_label}}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0" y="137160"/>
            <a:ext cx="1280160" cy="292608"/>
          </a:xfrm>
          <a:prstGeom prst="roundRect">
            <a:avLst/>
          </a:prstGeom>
          <a:solidFill>
            <a:srgbClr val="252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89720" y="15544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CBD5E1"/>
                </a:solidFill>
                <a:latin typeface="Calibri"/>
              </a:defRPr>
            </a:pPr>
            <a:r>
              <a:t>{{phase_badge}}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61320" y="137160"/>
            <a:ext cx="1280160" cy="292608"/>
          </a:xfrm>
          <a:prstGeom prst="roundRect">
            <a:avLst/>
          </a:prstGeom>
          <a:solidFill>
            <a:srgbClr val="252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607040" y="15544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CD34D"/>
                </a:solidFill>
                <a:latin typeface="Calibri"/>
              </a:defRPr>
            </a:pPr>
            <a:r>
              <a:t>{{scope_badge}}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566928"/>
            <a:ext cx="12188952" cy="502920"/>
          </a:xfrm>
          <a:prstGeom prst="rect">
            <a:avLst/>
          </a:prstGeom>
          <a:solidFill>
            <a:srgbClr val="F5F3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" y="640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Calibri"/>
              </a:defRPr>
            </a:pPr>
            <a:r>
              <a:t>{{waterfall_title}}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7665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75569"/>
                </a:solidFill>
                <a:latin typeface="Calibri"/>
              </a:defRPr>
            </a:pPr>
            <a:r>
              <a:t>{{waterfall_subtitle}}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1143000"/>
            <a:ext cx="11274552" cy="4480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51560" y="1463040"/>
            <a:ext cx="10497312" cy="2743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137160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4A3B8"/>
                </a:solidFill>
                <a:latin typeface="Calibri"/>
              </a:defRPr>
            </a:pPr>
            <a:r>
              <a:t>40%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51560" y="2011680"/>
            <a:ext cx="10497312" cy="2743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192024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4A3B8"/>
                </a:solidFill>
                <a:latin typeface="Calibri"/>
              </a:defRPr>
            </a:pPr>
            <a:r>
              <a:t>20%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51560" y="2560320"/>
            <a:ext cx="10497312" cy="2743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2468879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4A3B8"/>
                </a:solidFill>
                <a:latin typeface="Calibri"/>
              </a:defRPr>
            </a:pPr>
            <a:r>
              <a:t>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51560" y="3108960"/>
            <a:ext cx="10497312" cy="2743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301752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4A3B8"/>
                </a:solidFill>
                <a:latin typeface="Calibri"/>
              </a:defRPr>
            </a:pPr>
            <a:r>
              <a:t>-20%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51560" y="3657600"/>
            <a:ext cx="10497312" cy="2743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" y="356616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4A3B8"/>
                </a:solidFill>
                <a:latin typeface="Calibri"/>
              </a:defRPr>
            </a:pPr>
            <a:r>
              <a:t>-40%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51560" y="4206240"/>
            <a:ext cx="10497312" cy="2743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" y="411480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4A3B8"/>
                </a:solidFill>
                <a:latin typeface="Calibri"/>
              </a:defRPr>
            </a:pPr>
            <a:r>
              <a:t>-60%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51560" y="4754880"/>
            <a:ext cx="10497312" cy="2743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2920" y="466344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4A3B8"/>
                </a:solidFill>
                <a:latin typeface="Calibri"/>
              </a:defRPr>
            </a:pPr>
            <a:r>
              <a:t>-80%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51560" y="5303520"/>
            <a:ext cx="10497312" cy="2743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2920" y="5212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4A3B8"/>
                </a:solidFill>
                <a:latin typeface="Calibri"/>
              </a:defRPr>
            </a:pPr>
            <a:r>
              <a:t>-100%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51560" y="2555748"/>
            <a:ext cx="10497312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1051560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106424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161288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216151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271016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325880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1380743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435607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490472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1545336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1600200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1655064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1709928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1764792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1819655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1874519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1929384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1984248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2039112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2093976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2148839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2203704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2258568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2313432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2368296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2423160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2478024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2532888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2587752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2642615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2697480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2752344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2807208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2862072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2916936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2971800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3026664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3081528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3136391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3191256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3246120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3300984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3355848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3410712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3465576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3520440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3575303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3630168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3685031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3739896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3794760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3849624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3904487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3959352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4014216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4069079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4123944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4178808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4233672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4288536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4343400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4398264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4453128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4507992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4562856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4617720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4672583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4727448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4782312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4837175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4892040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ectangle 104"/>
          <p:cNvSpPr/>
          <p:nvPr/>
        </p:nvSpPr>
        <p:spPr>
          <a:xfrm>
            <a:off x="4946904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5001768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5056631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5111496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5166360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5221223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ectangle 110"/>
          <p:cNvSpPr/>
          <p:nvPr/>
        </p:nvSpPr>
        <p:spPr>
          <a:xfrm>
            <a:off x="5276088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ectangle 111"/>
          <p:cNvSpPr/>
          <p:nvPr/>
        </p:nvSpPr>
        <p:spPr>
          <a:xfrm>
            <a:off x="5330952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Rectangle 112"/>
          <p:cNvSpPr/>
          <p:nvPr/>
        </p:nvSpPr>
        <p:spPr>
          <a:xfrm>
            <a:off x="5385816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5440679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5495544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Rectangle 115"/>
          <p:cNvSpPr/>
          <p:nvPr/>
        </p:nvSpPr>
        <p:spPr>
          <a:xfrm>
            <a:off x="5550408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5605272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5660136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ectangle 118"/>
          <p:cNvSpPr/>
          <p:nvPr/>
        </p:nvSpPr>
        <p:spPr>
          <a:xfrm>
            <a:off x="5715000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ectangle 119"/>
          <p:cNvSpPr/>
          <p:nvPr/>
        </p:nvSpPr>
        <p:spPr>
          <a:xfrm>
            <a:off x="5769864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Rectangle 120"/>
          <p:cNvSpPr/>
          <p:nvPr/>
        </p:nvSpPr>
        <p:spPr>
          <a:xfrm>
            <a:off x="5824727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Rectangle 121"/>
          <p:cNvSpPr/>
          <p:nvPr/>
        </p:nvSpPr>
        <p:spPr>
          <a:xfrm>
            <a:off x="5879592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Rectangle 122"/>
          <p:cNvSpPr/>
          <p:nvPr/>
        </p:nvSpPr>
        <p:spPr>
          <a:xfrm>
            <a:off x="5934456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5989320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ectangle 124"/>
          <p:cNvSpPr/>
          <p:nvPr/>
        </p:nvSpPr>
        <p:spPr>
          <a:xfrm>
            <a:off x="6044183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Rectangle 125"/>
          <p:cNvSpPr/>
          <p:nvPr/>
        </p:nvSpPr>
        <p:spPr>
          <a:xfrm>
            <a:off x="6099048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Rectangle 126"/>
          <p:cNvSpPr/>
          <p:nvPr/>
        </p:nvSpPr>
        <p:spPr>
          <a:xfrm>
            <a:off x="6153912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Rectangle 127"/>
          <p:cNvSpPr/>
          <p:nvPr/>
        </p:nvSpPr>
        <p:spPr>
          <a:xfrm>
            <a:off x="6208775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Rectangle 128"/>
          <p:cNvSpPr/>
          <p:nvPr/>
        </p:nvSpPr>
        <p:spPr>
          <a:xfrm>
            <a:off x="6263640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Rectangle 129"/>
          <p:cNvSpPr/>
          <p:nvPr/>
        </p:nvSpPr>
        <p:spPr>
          <a:xfrm>
            <a:off x="6318504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Rectangle 130"/>
          <p:cNvSpPr/>
          <p:nvPr/>
        </p:nvSpPr>
        <p:spPr>
          <a:xfrm>
            <a:off x="6373368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Rectangle 131"/>
          <p:cNvSpPr/>
          <p:nvPr/>
        </p:nvSpPr>
        <p:spPr>
          <a:xfrm>
            <a:off x="6428231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Rectangle 132"/>
          <p:cNvSpPr/>
          <p:nvPr/>
        </p:nvSpPr>
        <p:spPr>
          <a:xfrm>
            <a:off x="6483096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Rectangle 133"/>
          <p:cNvSpPr/>
          <p:nvPr/>
        </p:nvSpPr>
        <p:spPr>
          <a:xfrm>
            <a:off x="6537960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Rectangle 134"/>
          <p:cNvSpPr/>
          <p:nvPr/>
        </p:nvSpPr>
        <p:spPr>
          <a:xfrm>
            <a:off x="6592823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Rectangle 135"/>
          <p:cNvSpPr/>
          <p:nvPr/>
        </p:nvSpPr>
        <p:spPr>
          <a:xfrm>
            <a:off x="6647688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Rectangle 136"/>
          <p:cNvSpPr/>
          <p:nvPr/>
        </p:nvSpPr>
        <p:spPr>
          <a:xfrm>
            <a:off x="6702552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Rectangle 137"/>
          <p:cNvSpPr/>
          <p:nvPr/>
        </p:nvSpPr>
        <p:spPr>
          <a:xfrm>
            <a:off x="6757416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Rectangle 138"/>
          <p:cNvSpPr/>
          <p:nvPr/>
        </p:nvSpPr>
        <p:spPr>
          <a:xfrm>
            <a:off x="6812279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Rectangle 139"/>
          <p:cNvSpPr/>
          <p:nvPr/>
        </p:nvSpPr>
        <p:spPr>
          <a:xfrm>
            <a:off x="6867144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Rectangle 140"/>
          <p:cNvSpPr/>
          <p:nvPr/>
        </p:nvSpPr>
        <p:spPr>
          <a:xfrm>
            <a:off x="6922008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Rectangle 141"/>
          <p:cNvSpPr/>
          <p:nvPr/>
        </p:nvSpPr>
        <p:spPr>
          <a:xfrm>
            <a:off x="6976872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Rectangle 142"/>
          <p:cNvSpPr/>
          <p:nvPr/>
        </p:nvSpPr>
        <p:spPr>
          <a:xfrm>
            <a:off x="7031736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Rectangle 143"/>
          <p:cNvSpPr/>
          <p:nvPr/>
        </p:nvSpPr>
        <p:spPr>
          <a:xfrm>
            <a:off x="7086600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Rectangle 144"/>
          <p:cNvSpPr/>
          <p:nvPr/>
        </p:nvSpPr>
        <p:spPr>
          <a:xfrm>
            <a:off x="7141464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Rectangle 145"/>
          <p:cNvSpPr/>
          <p:nvPr/>
        </p:nvSpPr>
        <p:spPr>
          <a:xfrm>
            <a:off x="7196327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Rectangle 146"/>
          <p:cNvSpPr/>
          <p:nvPr/>
        </p:nvSpPr>
        <p:spPr>
          <a:xfrm>
            <a:off x="7251192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Rectangle 147"/>
          <p:cNvSpPr/>
          <p:nvPr/>
        </p:nvSpPr>
        <p:spPr>
          <a:xfrm>
            <a:off x="7306056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Rectangle 148"/>
          <p:cNvSpPr/>
          <p:nvPr/>
        </p:nvSpPr>
        <p:spPr>
          <a:xfrm>
            <a:off x="7360920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Rectangle 149"/>
          <p:cNvSpPr/>
          <p:nvPr/>
        </p:nvSpPr>
        <p:spPr>
          <a:xfrm>
            <a:off x="7415783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Rectangle 150"/>
          <p:cNvSpPr/>
          <p:nvPr/>
        </p:nvSpPr>
        <p:spPr>
          <a:xfrm>
            <a:off x="7470648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Rectangle 151"/>
          <p:cNvSpPr/>
          <p:nvPr/>
        </p:nvSpPr>
        <p:spPr>
          <a:xfrm>
            <a:off x="7525512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Rectangle 152"/>
          <p:cNvSpPr/>
          <p:nvPr/>
        </p:nvSpPr>
        <p:spPr>
          <a:xfrm>
            <a:off x="7580375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Rectangle 153"/>
          <p:cNvSpPr/>
          <p:nvPr/>
        </p:nvSpPr>
        <p:spPr>
          <a:xfrm>
            <a:off x="7635240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Rectangle 154"/>
          <p:cNvSpPr/>
          <p:nvPr/>
        </p:nvSpPr>
        <p:spPr>
          <a:xfrm>
            <a:off x="7690104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Rectangle 155"/>
          <p:cNvSpPr/>
          <p:nvPr/>
        </p:nvSpPr>
        <p:spPr>
          <a:xfrm>
            <a:off x="7744968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Rectangle 156"/>
          <p:cNvSpPr/>
          <p:nvPr/>
        </p:nvSpPr>
        <p:spPr>
          <a:xfrm>
            <a:off x="7799831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Rectangle 157"/>
          <p:cNvSpPr/>
          <p:nvPr/>
        </p:nvSpPr>
        <p:spPr>
          <a:xfrm>
            <a:off x="7854696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Rectangle 158"/>
          <p:cNvSpPr/>
          <p:nvPr/>
        </p:nvSpPr>
        <p:spPr>
          <a:xfrm>
            <a:off x="7909560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Rectangle 159"/>
          <p:cNvSpPr/>
          <p:nvPr/>
        </p:nvSpPr>
        <p:spPr>
          <a:xfrm>
            <a:off x="7964423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Rectangle 160"/>
          <p:cNvSpPr/>
          <p:nvPr/>
        </p:nvSpPr>
        <p:spPr>
          <a:xfrm>
            <a:off x="8019288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Rectangle 161"/>
          <p:cNvSpPr/>
          <p:nvPr/>
        </p:nvSpPr>
        <p:spPr>
          <a:xfrm>
            <a:off x="8074152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Rectangle 162"/>
          <p:cNvSpPr/>
          <p:nvPr/>
        </p:nvSpPr>
        <p:spPr>
          <a:xfrm>
            <a:off x="8129016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Rectangle 163"/>
          <p:cNvSpPr/>
          <p:nvPr/>
        </p:nvSpPr>
        <p:spPr>
          <a:xfrm>
            <a:off x="8183879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Rectangle 164"/>
          <p:cNvSpPr/>
          <p:nvPr/>
        </p:nvSpPr>
        <p:spPr>
          <a:xfrm>
            <a:off x="8238744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Rectangle 165"/>
          <p:cNvSpPr/>
          <p:nvPr/>
        </p:nvSpPr>
        <p:spPr>
          <a:xfrm>
            <a:off x="8293608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Rectangle 166"/>
          <p:cNvSpPr/>
          <p:nvPr/>
        </p:nvSpPr>
        <p:spPr>
          <a:xfrm>
            <a:off x="8348472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Rectangle 167"/>
          <p:cNvSpPr/>
          <p:nvPr/>
        </p:nvSpPr>
        <p:spPr>
          <a:xfrm>
            <a:off x="8403336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Rectangle 168"/>
          <p:cNvSpPr/>
          <p:nvPr/>
        </p:nvSpPr>
        <p:spPr>
          <a:xfrm>
            <a:off x="8458200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Rectangle 169"/>
          <p:cNvSpPr/>
          <p:nvPr/>
        </p:nvSpPr>
        <p:spPr>
          <a:xfrm>
            <a:off x="8513064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Rectangle 170"/>
          <p:cNvSpPr/>
          <p:nvPr/>
        </p:nvSpPr>
        <p:spPr>
          <a:xfrm>
            <a:off x="8567928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Rectangle 171"/>
          <p:cNvSpPr/>
          <p:nvPr/>
        </p:nvSpPr>
        <p:spPr>
          <a:xfrm>
            <a:off x="8622792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Rectangle 172"/>
          <p:cNvSpPr/>
          <p:nvPr/>
        </p:nvSpPr>
        <p:spPr>
          <a:xfrm>
            <a:off x="8677656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Rectangle 173"/>
          <p:cNvSpPr/>
          <p:nvPr/>
        </p:nvSpPr>
        <p:spPr>
          <a:xfrm>
            <a:off x="8732520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Rectangle 174"/>
          <p:cNvSpPr/>
          <p:nvPr/>
        </p:nvSpPr>
        <p:spPr>
          <a:xfrm>
            <a:off x="8787384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Rectangle 175"/>
          <p:cNvSpPr/>
          <p:nvPr/>
        </p:nvSpPr>
        <p:spPr>
          <a:xfrm>
            <a:off x="8842248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Rectangle 176"/>
          <p:cNvSpPr/>
          <p:nvPr/>
        </p:nvSpPr>
        <p:spPr>
          <a:xfrm>
            <a:off x="8897112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Rectangle 177"/>
          <p:cNvSpPr/>
          <p:nvPr/>
        </p:nvSpPr>
        <p:spPr>
          <a:xfrm>
            <a:off x="8951976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Rectangle 178"/>
          <p:cNvSpPr/>
          <p:nvPr/>
        </p:nvSpPr>
        <p:spPr>
          <a:xfrm>
            <a:off x="9006840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Rectangle 179"/>
          <p:cNvSpPr/>
          <p:nvPr/>
        </p:nvSpPr>
        <p:spPr>
          <a:xfrm>
            <a:off x="9061704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Rectangle 180"/>
          <p:cNvSpPr/>
          <p:nvPr/>
        </p:nvSpPr>
        <p:spPr>
          <a:xfrm>
            <a:off x="9116568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Rectangle 181"/>
          <p:cNvSpPr/>
          <p:nvPr/>
        </p:nvSpPr>
        <p:spPr>
          <a:xfrm>
            <a:off x="9171432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Rectangle 182"/>
          <p:cNvSpPr/>
          <p:nvPr/>
        </p:nvSpPr>
        <p:spPr>
          <a:xfrm>
            <a:off x="9226296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Rectangle 183"/>
          <p:cNvSpPr/>
          <p:nvPr/>
        </p:nvSpPr>
        <p:spPr>
          <a:xfrm>
            <a:off x="9281160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Rectangle 184"/>
          <p:cNvSpPr/>
          <p:nvPr/>
        </p:nvSpPr>
        <p:spPr>
          <a:xfrm>
            <a:off x="9336024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Rectangle 185"/>
          <p:cNvSpPr/>
          <p:nvPr/>
        </p:nvSpPr>
        <p:spPr>
          <a:xfrm>
            <a:off x="9390888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Rectangle 186"/>
          <p:cNvSpPr/>
          <p:nvPr/>
        </p:nvSpPr>
        <p:spPr>
          <a:xfrm>
            <a:off x="9445752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Rectangle 187"/>
          <p:cNvSpPr/>
          <p:nvPr/>
        </p:nvSpPr>
        <p:spPr>
          <a:xfrm>
            <a:off x="9500616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Rectangle 188"/>
          <p:cNvSpPr/>
          <p:nvPr/>
        </p:nvSpPr>
        <p:spPr>
          <a:xfrm>
            <a:off x="9555480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Rectangle 189"/>
          <p:cNvSpPr/>
          <p:nvPr/>
        </p:nvSpPr>
        <p:spPr>
          <a:xfrm>
            <a:off x="9610344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Rectangle 190"/>
          <p:cNvSpPr/>
          <p:nvPr/>
        </p:nvSpPr>
        <p:spPr>
          <a:xfrm>
            <a:off x="9665208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Rectangle 191"/>
          <p:cNvSpPr/>
          <p:nvPr/>
        </p:nvSpPr>
        <p:spPr>
          <a:xfrm>
            <a:off x="9720072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Rectangle 192"/>
          <p:cNvSpPr/>
          <p:nvPr/>
        </p:nvSpPr>
        <p:spPr>
          <a:xfrm>
            <a:off x="9774936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Rectangle 193"/>
          <p:cNvSpPr/>
          <p:nvPr/>
        </p:nvSpPr>
        <p:spPr>
          <a:xfrm>
            <a:off x="9829800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Rectangle 194"/>
          <p:cNvSpPr/>
          <p:nvPr/>
        </p:nvSpPr>
        <p:spPr>
          <a:xfrm>
            <a:off x="9884664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Rectangle 195"/>
          <p:cNvSpPr/>
          <p:nvPr/>
        </p:nvSpPr>
        <p:spPr>
          <a:xfrm>
            <a:off x="9939528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Rectangle 196"/>
          <p:cNvSpPr/>
          <p:nvPr/>
        </p:nvSpPr>
        <p:spPr>
          <a:xfrm>
            <a:off x="9994392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Rectangle 197"/>
          <p:cNvSpPr/>
          <p:nvPr/>
        </p:nvSpPr>
        <p:spPr>
          <a:xfrm>
            <a:off x="10049256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Rectangle 198"/>
          <p:cNvSpPr/>
          <p:nvPr/>
        </p:nvSpPr>
        <p:spPr>
          <a:xfrm>
            <a:off x="10104120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Rectangle 199"/>
          <p:cNvSpPr/>
          <p:nvPr/>
        </p:nvSpPr>
        <p:spPr>
          <a:xfrm>
            <a:off x="10158984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Rectangle 200"/>
          <p:cNvSpPr/>
          <p:nvPr/>
        </p:nvSpPr>
        <p:spPr>
          <a:xfrm>
            <a:off x="10213848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Rectangle 201"/>
          <p:cNvSpPr/>
          <p:nvPr/>
        </p:nvSpPr>
        <p:spPr>
          <a:xfrm>
            <a:off x="10268712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Rectangle 202"/>
          <p:cNvSpPr/>
          <p:nvPr/>
        </p:nvSpPr>
        <p:spPr>
          <a:xfrm>
            <a:off x="10323576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Rectangle 203"/>
          <p:cNvSpPr/>
          <p:nvPr/>
        </p:nvSpPr>
        <p:spPr>
          <a:xfrm>
            <a:off x="10378440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Rectangle 204"/>
          <p:cNvSpPr/>
          <p:nvPr/>
        </p:nvSpPr>
        <p:spPr>
          <a:xfrm>
            <a:off x="10433304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Rectangle 205"/>
          <p:cNvSpPr/>
          <p:nvPr/>
        </p:nvSpPr>
        <p:spPr>
          <a:xfrm>
            <a:off x="10488168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Rectangle 206"/>
          <p:cNvSpPr/>
          <p:nvPr/>
        </p:nvSpPr>
        <p:spPr>
          <a:xfrm>
            <a:off x="10543032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Rectangle 207"/>
          <p:cNvSpPr/>
          <p:nvPr/>
        </p:nvSpPr>
        <p:spPr>
          <a:xfrm>
            <a:off x="10597896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Rectangle 208"/>
          <p:cNvSpPr/>
          <p:nvPr/>
        </p:nvSpPr>
        <p:spPr>
          <a:xfrm>
            <a:off x="10652760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0" name="Rectangle 209"/>
          <p:cNvSpPr/>
          <p:nvPr/>
        </p:nvSpPr>
        <p:spPr>
          <a:xfrm>
            <a:off x="10707624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Rectangle 210"/>
          <p:cNvSpPr/>
          <p:nvPr/>
        </p:nvSpPr>
        <p:spPr>
          <a:xfrm>
            <a:off x="10762488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Rectangle 211"/>
          <p:cNvSpPr/>
          <p:nvPr/>
        </p:nvSpPr>
        <p:spPr>
          <a:xfrm>
            <a:off x="10817352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Rectangle 212"/>
          <p:cNvSpPr/>
          <p:nvPr/>
        </p:nvSpPr>
        <p:spPr>
          <a:xfrm>
            <a:off x="10872216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4" name="Rectangle 213"/>
          <p:cNvSpPr/>
          <p:nvPr/>
        </p:nvSpPr>
        <p:spPr>
          <a:xfrm>
            <a:off x="10927080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Rectangle 214"/>
          <p:cNvSpPr/>
          <p:nvPr/>
        </p:nvSpPr>
        <p:spPr>
          <a:xfrm>
            <a:off x="10981944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Rectangle 215"/>
          <p:cNvSpPr/>
          <p:nvPr/>
        </p:nvSpPr>
        <p:spPr>
          <a:xfrm>
            <a:off x="11036808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Rectangle 216"/>
          <p:cNvSpPr/>
          <p:nvPr/>
        </p:nvSpPr>
        <p:spPr>
          <a:xfrm>
            <a:off x="11091672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8" name="Rectangle 217"/>
          <p:cNvSpPr/>
          <p:nvPr/>
        </p:nvSpPr>
        <p:spPr>
          <a:xfrm>
            <a:off x="11146536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9" name="Rectangle 218"/>
          <p:cNvSpPr/>
          <p:nvPr/>
        </p:nvSpPr>
        <p:spPr>
          <a:xfrm>
            <a:off x="11201400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Rectangle 219"/>
          <p:cNvSpPr/>
          <p:nvPr/>
        </p:nvSpPr>
        <p:spPr>
          <a:xfrm>
            <a:off x="11256264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Rectangle 220"/>
          <p:cNvSpPr/>
          <p:nvPr/>
        </p:nvSpPr>
        <p:spPr>
          <a:xfrm>
            <a:off x="11311128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2" name="Rectangle 221"/>
          <p:cNvSpPr/>
          <p:nvPr/>
        </p:nvSpPr>
        <p:spPr>
          <a:xfrm>
            <a:off x="11365992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Rectangle 222"/>
          <p:cNvSpPr/>
          <p:nvPr/>
        </p:nvSpPr>
        <p:spPr>
          <a:xfrm>
            <a:off x="11420856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4" name="Rectangle 223"/>
          <p:cNvSpPr/>
          <p:nvPr/>
        </p:nvSpPr>
        <p:spPr>
          <a:xfrm>
            <a:off x="11475720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5" name="Rectangle 224"/>
          <p:cNvSpPr/>
          <p:nvPr/>
        </p:nvSpPr>
        <p:spPr>
          <a:xfrm>
            <a:off x="11530584" y="3383280"/>
            <a:ext cx="27432" cy="274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6" name="Rectangle 225"/>
          <p:cNvSpPr/>
          <p:nvPr/>
        </p:nvSpPr>
        <p:spPr>
          <a:xfrm>
            <a:off x="1051560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7" name="Rectangle 226"/>
          <p:cNvSpPr/>
          <p:nvPr/>
        </p:nvSpPr>
        <p:spPr>
          <a:xfrm>
            <a:off x="1106424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8" name="Rectangle 227"/>
          <p:cNvSpPr/>
          <p:nvPr/>
        </p:nvSpPr>
        <p:spPr>
          <a:xfrm>
            <a:off x="1161288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9" name="Rectangle 228"/>
          <p:cNvSpPr/>
          <p:nvPr/>
        </p:nvSpPr>
        <p:spPr>
          <a:xfrm>
            <a:off x="1216151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0" name="Rectangle 229"/>
          <p:cNvSpPr/>
          <p:nvPr/>
        </p:nvSpPr>
        <p:spPr>
          <a:xfrm>
            <a:off x="1271016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1" name="Rectangle 230"/>
          <p:cNvSpPr/>
          <p:nvPr/>
        </p:nvSpPr>
        <p:spPr>
          <a:xfrm>
            <a:off x="1325880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2" name="Rectangle 231"/>
          <p:cNvSpPr/>
          <p:nvPr/>
        </p:nvSpPr>
        <p:spPr>
          <a:xfrm>
            <a:off x="1380743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3" name="Rectangle 232"/>
          <p:cNvSpPr/>
          <p:nvPr/>
        </p:nvSpPr>
        <p:spPr>
          <a:xfrm>
            <a:off x="1435607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4" name="Rectangle 233"/>
          <p:cNvSpPr/>
          <p:nvPr/>
        </p:nvSpPr>
        <p:spPr>
          <a:xfrm>
            <a:off x="1490472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Rectangle 234"/>
          <p:cNvSpPr/>
          <p:nvPr/>
        </p:nvSpPr>
        <p:spPr>
          <a:xfrm>
            <a:off x="1545336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6" name="Rectangle 235"/>
          <p:cNvSpPr/>
          <p:nvPr/>
        </p:nvSpPr>
        <p:spPr>
          <a:xfrm>
            <a:off x="1600200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7" name="Rectangle 236"/>
          <p:cNvSpPr/>
          <p:nvPr/>
        </p:nvSpPr>
        <p:spPr>
          <a:xfrm>
            <a:off x="1655064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8" name="Rectangle 237"/>
          <p:cNvSpPr/>
          <p:nvPr/>
        </p:nvSpPr>
        <p:spPr>
          <a:xfrm>
            <a:off x="1709928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9" name="Rectangle 238"/>
          <p:cNvSpPr/>
          <p:nvPr/>
        </p:nvSpPr>
        <p:spPr>
          <a:xfrm>
            <a:off x="1764792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0" name="Rectangle 239"/>
          <p:cNvSpPr/>
          <p:nvPr/>
        </p:nvSpPr>
        <p:spPr>
          <a:xfrm>
            <a:off x="1819655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1" name="Rectangle 240"/>
          <p:cNvSpPr/>
          <p:nvPr/>
        </p:nvSpPr>
        <p:spPr>
          <a:xfrm>
            <a:off x="1874519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2" name="Rectangle 241"/>
          <p:cNvSpPr/>
          <p:nvPr/>
        </p:nvSpPr>
        <p:spPr>
          <a:xfrm>
            <a:off x="1929384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3" name="Rectangle 242"/>
          <p:cNvSpPr/>
          <p:nvPr/>
        </p:nvSpPr>
        <p:spPr>
          <a:xfrm>
            <a:off x="1984248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4" name="Rectangle 243"/>
          <p:cNvSpPr/>
          <p:nvPr/>
        </p:nvSpPr>
        <p:spPr>
          <a:xfrm>
            <a:off x="2039112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5" name="Rectangle 244"/>
          <p:cNvSpPr/>
          <p:nvPr/>
        </p:nvSpPr>
        <p:spPr>
          <a:xfrm>
            <a:off x="2093976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6" name="Rectangle 245"/>
          <p:cNvSpPr/>
          <p:nvPr/>
        </p:nvSpPr>
        <p:spPr>
          <a:xfrm>
            <a:off x="2148839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7" name="Rectangle 246"/>
          <p:cNvSpPr/>
          <p:nvPr/>
        </p:nvSpPr>
        <p:spPr>
          <a:xfrm>
            <a:off x="2203704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8" name="Rectangle 247"/>
          <p:cNvSpPr/>
          <p:nvPr/>
        </p:nvSpPr>
        <p:spPr>
          <a:xfrm>
            <a:off x="2258568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Rectangle 248"/>
          <p:cNvSpPr/>
          <p:nvPr/>
        </p:nvSpPr>
        <p:spPr>
          <a:xfrm>
            <a:off x="2313432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0" name="Rectangle 249"/>
          <p:cNvSpPr/>
          <p:nvPr/>
        </p:nvSpPr>
        <p:spPr>
          <a:xfrm>
            <a:off x="2368296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1" name="Rectangle 250"/>
          <p:cNvSpPr/>
          <p:nvPr/>
        </p:nvSpPr>
        <p:spPr>
          <a:xfrm>
            <a:off x="2423160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2" name="Rectangle 251"/>
          <p:cNvSpPr/>
          <p:nvPr/>
        </p:nvSpPr>
        <p:spPr>
          <a:xfrm>
            <a:off x="2478024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3" name="Rectangle 252"/>
          <p:cNvSpPr/>
          <p:nvPr/>
        </p:nvSpPr>
        <p:spPr>
          <a:xfrm>
            <a:off x="2532888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4" name="Rectangle 253"/>
          <p:cNvSpPr/>
          <p:nvPr/>
        </p:nvSpPr>
        <p:spPr>
          <a:xfrm>
            <a:off x="2587752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5" name="Rectangle 254"/>
          <p:cNvSpPr/>
          <p:nvPr/>
        </p:nvSpPr>
        <p:spPr>
          <a:xfrm>
            <a:off x="2642615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6" name="Rectangle 255"/>
          <p:cNvSpPr/>
          <p:nvPr/>
        </p:nvSpPr>
        <p:spPr>
          <a:xfrm>
            <a:off x="2697480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7" name="Rectangle 256"/>
          <p:cNvSpPr/>
          <p:nvPr/>
        </p:nvSpPr>
        <p:spPr>
          <a:xfrm>
            <a:off x="2752344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8" name="Rectangle 257"/>
          <p:cNvSpPr/>
          <p:nvPr/>
        </p:nvSpPr>
        <p:spPr>
          <a:xfrm>
            <a:off x="2807208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9" name="Rectangle 258"/>
          <p:cNvSpPr/>
          <p:nvPr/>
        </p:nvSpPr>
        <p:spPr>
          <a:xfrm>
            <a:off x="2862072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0" name="Rectangle 259"/>
          <p:cNvSpPr/>
          <p:nvPr/>
        </p:nvSpPr>
        <p:spPr>
          <a:xfrm>
            <a:off x="2916936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1" name="Rectangle 260"/>
          <p:cNvSpPr/>
          <p:nvPr/>
        </p:nvSpPr>
        <p:spPr>
          <a:xfrm>
            <a:off x="2971800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2" name="Rectangle 261"/>
          <p:cNvSpPr/>
          <p:nvPr/>
        </p:nvSpPr>
        <p:spPr>
          <a:xfrm>
            <a:off x="3026664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3" name="Rectangle 262"/>
          <p:cNvSpPr/>
          <p:nvPr/>
        </p:nvSpPr>
        <p:spPr>
          <a:xfrm>
            <a:off x="3081528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4" name="Rectangle 263"/>
          <p:cNvSpPr/>
          <p:nvPr/>
        </p:nvSpPr>
        <p:spPr>
          <a:xfrm>
            <a:off x="3136391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5" name="Rectangle 264"/>
          <p:cNvSpPr/>
          <p:nvPr/>
        </p:nvSpPr>
        <p:spPr>
          <a:xfrm>
            <a:off x="3191256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6" name="Rectangle 265"/>
          <p:cNvSpPr/>
          <p:nvPr/>
        </p:nvSpPr>
        <p:spPr>
          <a:xfrm>
            <a:off x="3246120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7" name="Rectangle 266"/>
          <p:cNvSpPr/>
          <p:nvPr/>
        </p:nvSpPr>
        <p:spPr>
          <a:xfrm>
            <a:off x="3300984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8" name="Rectangle 267"/>
          <p:cNvSpPr/>
          <p:nvPr/>
        </p:nvSpPr>
        <p:spPr>
          <a:xfrm>
            <a:off x="3355848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9" name="Rectangle 268"/>
          <p:cNvSpPr/>
          <p:nvPr/>
        </p:nvSpPr>
        <p:spPr>
          <a:xfrm>
            <a:off x="3410712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0" name="Rectangle 269"/>
          <p:cNvSpPr/>
          <p:nvPr/>
        </p:nvSpPr>
        <p:spPr>
          <a:xfrm>
            <a:off x="3465576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1" name="Rectangle 270"/>
          <p:cNvSpPr/>
          <p:nvPr/>
        </p:nvSpPr>
        <p:spPr>
          <a:xfrm>
            <a:off x="3520440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2" name="Rectangle 271"/>
          <p:cNvSpPr/>
          <p:nvPr/>
        </p:nvSpPr>
        <p:spPr>
          <a:xfrm>
            <a:off x="3575303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3" name="Rectangle 272"/>
          <p:cNvSpPr/>
          <p:nvPr/>
        </p:nvSpPr>
        <p:spPr>
          <a:xfrm>
            <a:off x="3630168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4" name="Rectangle 273"/>
          <p:cNvSpPr/>
          <p:nvPr/>
        </p:nvSpPr>
        <p:spPr>
          <a:xfrm>
            <a:off x="3685031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5" name="Rectangle 274"/>
          <p:cNvSpPr/>
          <p:nvPr/>
        </p:nvSpPr>
        <p:spPr>
          <a:xfrm>
            <a:off x="3739896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6" name="Rectangle 275"/>
          <p:cNvSpPr/>
          <p:nvPr/>
        </p:nvSpPr>
        <p:spPr>
          <a:xfrm>
            <a:off x="3794760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7" name="Rectangle 276"/>
          <p:cNvSpPr/>
          <p:nvPr/>
        </p:nvSpPr>
        <p:spPr>
          <a:xfrm>
            <a:off x="3849624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8" name="Rectangle 277"/>
          <p:cNvSpPr/>
          <p:nvPr/>
        </p:nvSpPr>
        <p:spPr>
          <a:xfrm>
            <a:off x="3904487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9" name="Rectangle 278"/>
          <p:cNvSpPr/>
          <p:nvPr/>
        </p:nvSpPr>
        <p:spPr>
          <a:xfrm>
            <a:off x="3959352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0" name="Rectangle 279"/>
          <p:cNvSpPr/>
          <p:nvPr/>
        </p:nvSpPr>
        <p:spPr>
          <a:xfrm>
            <a:off x="4014216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1" name="Rectangle 280"/>
          <p:cNvSpPr/>
          <p:nvPr/>
        </p:nvSpPr>
        <p:spPr>
          <a:xfrm>
            <a:off x="4069079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2" name="Rectangle 281"/>
          <p:cNvSpPr/>
          <p:nvPr/>
        </p:nvSpPr>
        <p:spPr>
          <a:xfrm>
            <a:off x="4123944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3" name="Rectangle 282"/>
          <p:cNvSpPr/>
          <p:nvPr/>
        </p:nvSpPr>
        <p:spPr>
          <a:xfrm>
            <a:off x="4178808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4" name="Rectangle 283"/>
          <p:cNvSpPr/>
          <p:nvPr/>
        </p:nvSpPr>
        <p:spPr>
          <a:xfrm>
            <a:off x="4233672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5" name="Rectangle 284"/>
          <p:cNvSpPr/>
          <p:nvPr/>
        </p:nvSpPr>
        <p:spPr>
          <a:xfrm>
            <a:off x="4288536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6" name="Rectangle 285"/>
          <p:cNvSpPr/>
          <p:nvPr/>
        </p:nvSpPr>
        <p:spPr>
          <a:xfrm>
            <a:off x="4343400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7" name="Rectangle 286"/>
          <p:cNvSpPr/>
          <p:nvPr/>
        </p:nvSpPr>
        <p:spPr>
          <a:xfrm>
            <a:off x="4398264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8" name="Rectangle 287"/>
          <p:cNvSpPr/>
          <p:nvPr/>
        </p:nvSpPr>
        <p:spPr>
          <a:xfrm>
            <a:off x="4453128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9" name="Rectangle 288"/>
          <p:cNvSpPr/>
          <p:nvPr/>
        </p:nvSpPr>
        <p:spPr>
          <a:xfrm>
            <a:off x="4507992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0" name="Rectangle 289"/>
          <p:cNvSpPr/>
          <p:nvPr/>
        </p:nvSpPr>
        <p:spPr>
          <a:xfrm>
            <a:off x="4562856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1" name="Rectangle 290"/>
          <p:cNvSpPr/>
          <p:nvPr/>
        </p:nvSpPr>
        <p:spPr>
          <a:xfrm>
            <a:off x="4617720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2" name="Rectangle 291"/>
          <p:cNvSpPr/>
          <p:nvPr/>
        </p:nvSpPr>
        <p:spPr>
          <a:xfrm>
            <a:off x="4672583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3" name="Rectangle 292"/>
          <p:cNvSpPr/>
          <p:nvPr/>
        </p:nvSpPr>
        <p:spPr>
          <a:xfrm>
            <a:off x="4727448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4" name="Rectangle 293"/>
          <p:cNvSpPr/>
          <p:nvPr/>
        </p:nvSpPr>
        <p:spPr>
          <a:xfrm>
            <a:off x="4782312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5" name="Rectangle 294"/>
          <p:cNvSpPr/>
          <p:nvPr/>
        </p:nvSpPr>
        <p:spPr>
          <a:xfrm>
            <a:off x="4837175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6" name="Rectangle 295"/>
          <p:cNvSpPr/>
          <p:nvPr/>
        </p:nvSpPr>
        <p:spPr>
          <a:xfrm>
            <a:off x="4892040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7" name="Rectangle 296"/>
          <p:cNvSpPr/>
          <p:nvPr/>
        </p:nvSpPr>
        <p:spPr>
          <a:xfrm>
            <a:off x="4946904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8" name="Rectangle 297"/>
          <p:cNvSpPr/>
          <p:nvPr/>
        </p:nvSpPr>
        <p:spPr>
          <a:xfrm>
            <a:off x="5001768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9" name="Rectangle 298"/>
          <p:cNvSpPr/>
          <p:nvPr/>
        </p:nvSpPr>
        <p:spPr>
          <a:xfrm>
            <a:off x="5056631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0" name="Rectangle 299"/>
          <p:cNvSpPr/>
          <p:nvPr/>
        </p:nvSpPr>
        <p:spPr>
          <a:xfrm>
            <a:off x="5111496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1" name="Rectangle 300"/>
          <p:cNvSpPr/>
          <p:nvPr/>
        </p:nvSpPr>
        <p:spPr>
          <a:xfrm>
            <a:off x="5166360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2" name="Rectangle 301"/>
          <p:cNvSpPr/>
          <p:nvPr/>
        </p:nvSpPr>
        <p:spPr>
          <a:xfrm>
            <a:off x="5221223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3" name="Rectangle 302"/>
          <p:cNvSpPr/>
          <p:nvPr/>
        </p:nvSpPr>
        <p:spPr>
          <a:xfrm>
            <a:off x="5276088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4" name="Rectangle 303"/>
          <p:cNvSpPr/>
          <p:nvPr/>
        </p:nvSpPr>
        <p:spPr>
          <a:xfrm>
            <a:off x="5330952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5" name="Rectangle 304"/>
          <p:cNvSpPr/>
          <p:nvPr/>
        </p:nvSpPr>
        <p:spPr>
          <a:xfrm>
            <a:off x="5385816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6" name="Rectangle 305"/>
          <p:cNvSpPr/>
          <p:nvPr/>
        </p:nvSpPr>
        <p:spPr>
          <a:xfrm>
            <a:off x="5440679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7" name="Rectangle 306"/>
          <p:cNvSpPr/>
          <p:nvPr/>
        </p:nvSpPr>
        <p:spPr>
          <a:xfrm>
            <a:off x="5495544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8" name="Rectangle 307"/>
          <p:cNvSpPr/>
          <p:nvPr/>
        </p:nvSpPr>
        <p:spPr>
          <a:xfrm>
            <a:off x="5550408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9" name="Rectangle 308"/>
          <p:cNvSpPr/>
          <p:nvPr/>
        </p:nvSpPr>
        <p:spPr>
          <a:xfrm>
            <a:off x="5605272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0" name="Rectangle 309"/>
          <p:cNvSpPr/>
          <p:nvPr/>
        </p:nvSpPr>
        <p:spPr>
          <a:xfrm>
            <a:off x="5660136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1" name="Rectangle 310"/>
          <p:cNvSpPr/>
          <p:nvPr/>
        </p:nvSpPr>
        <p:spPr>
          <a:xfrm>
            <a:off x="5715000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2" name="Rectangle 311"/>
          <p:cNvSpPr/>
          <p:nvPr/>
        </p:nvSpPr>
        <p:spPr>
          <a:xfrm>
            <a:off x="5769864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3" name="Rectangle 312"/>
          <p:cNvSpPr/>
          <p:nvPr/>
        </p:nvSpPr>
        <p:spPr>
          <a:xfrm>
            <a:off x="5824727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4" name="Rectangle 313"/>
          <p:cNvSpPr/>
          <p:nvPr/>
        </p:nvSpPr>
        <p:spPr>
          <a:xfrm>
            <a:off x="5879592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5" name="Rectangle 314"/>
          <p:cNvSpPr/>
          <p:nvPr/>
        </p:nvSpPr>
        <p:spPr>
          <a:xfrm>
            <a:off x="5934456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6" name="Rectangle 315"/>
          <p:cNvSpPr/>
          <p:nvPr/>
        </p:nvSpPr>
        <p:spPr>
          <a:xfrm>
            <a:off x="5989320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7" name="Rectangle 316"/>
          <p:cNvSpPr/>
          <p:nvPr/>
        </p:nvSpPr>
        <p:spPr>
          <a:xfrm>
            <a:off x="6044183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8" name="Rectangle 317"/>
          <p:cNvSpPr/>
          <p:nvPr/>
        </p:nvSpPr>
        <p:spPr>
          <a:xfrm>
            <a:off x="6099048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9" name="Rectangle 318"/>
          <p:cNvSpPr/>
          <p:nvPr/>
        </p:nvSpPr>
        <p:spPr>
          <a:xfrm>
            <a:off x="6153912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0" name="Rectangle 319"/>
          <p:cNvSpPr/>
          <p:nvPr/>
        </p:nvSpPr>
        <p:spPr>
          <a:xfrm>
            <a:off x="6208775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1" name="Rectangle 320"/>
          <p:cNvSpPr/>
          <p:nvPr/>
        </p:nvSpPr>
        <p:spPr>
          <a:xfrm>
            <a:off x="6263640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2" name="Rectangle 321"/>
          <p:cNvSpPr/>
          <p:nvPr/>
        </p:nvSpPr>
        <p:spPr>
          <a:xfrm>
            <a:off x="6318504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3" name="Rectangle 322"/>
          <p:cNvSpPr/>
          <p:nvPr/>
        </p:nvSpPr>
        <p:spPr>
          <a:xfrm>
            <a:off x="6373368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4" name="Rectangle 323"/>
          <p:cNvSpPr/>
          <p:nvPr/>
        </p:nvSpPr>
        <p:spPr>
          <a:xfrm>
            <a:off x="6428231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5" name="Rectangle 324"/>
          <p:cNvSpPr/>
          <p:nvPr/>
        </p:nvSpPr>
        <p:spPr>
          <a:xfrm>
            <a:off x="6483096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6" name="Rectangle 325"/>
          <p:cNvSpPr/>
          <p:nvPr/>
        </p:nvSpPr>
        <p:spPr>
          <a:xfrm>
            <a:off x="6537960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7" name="Rectangle 326"/>
          <p:cNvSpPr/>
          <p:nvPr/>
        </p:nvSpPr>
        <p:spPr>
          <a:xfrm>
            <a:off x="6592823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8" name="Rectangle 327"/>
          <p:cNvSpPr/>
          <p:nvPr/>
        </p:nvSpPr>
        <p:spPr>
          <a:xfrm>
            <a:off x="6647688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9" name="Rectangle 328"/>
          <p:cNvSpPr/>
          <p:nvPr/>
        </p:nvSpPr>
        <p:spPr>
          <a:xfrm>
            <a:off x="6702552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0" name="Rectangle 329"/>
          <p:cNvSpPr/>
          <p:nvPr/>
        </p:nvSpPr>
        <p:spPr>
          <a:xfrm>
            <a:off x="6757416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1" name="Rectangle 330"/>
          <p:cNvSpPr/>
          <p:nvPr/>
        </p:nvSpPr>
        <p:spPr>
          <a:xfrm>
            <a:off x="6812279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2" name="Rectangle 331"/>
          <p:cNvSpPr/>
          <p:nvPr/>
        </p:nvSpPr>
        <p:spPr>
          <a:xfrm>
            <a:off x="6867144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3" name="Rectangle 332"/>
          <p:cNvSpPr/>
          <p:nvPr/>
        </p:nvSpPr>
        <p:spPr>
          <a:xfrm>
            <a:off x="6922008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4" name="Rectangle 333"/>
          <p:cNvSpPr/>
          <p:nvPr/>
        </p:nvSpPr>
        <p:spPr>
          <a:xfrm>
            <a:off x="6976872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5" name="Rectangle 334"/>
          <p:cNvSpPr/>
          <p:nvPr/>
        </p:nvSpPr>
        <p:spPr>
          <a:xfrm>
            <a:off x="7031736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6" name="Rectangle 335"/>
          <p:cNvSpPr/>
          <p:nvPr/>
        </p:nvSpPr>
        <p:spPr>
          <a:xfrm>
            <a:off x="7086600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7" name="Rectangle 336"/>
          <p:cNvSpPr/>
          <p:nvPr/>
        </p:nvSpPr>
        <p:spPr>
          <a:xfrm>
            <a:off x="7141464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8" name="Rectangle 337"/>
          <p:cNvSpPr/>
          <p:nvPr/>
        </p:nvSpPr>
        <p:spPr>
          <a:xfrm>
            <a:off x="7196327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9" name="Rectangle 338"/>
          <p:cNvSpPr/>
          <p:nvPr/>
        </p:nvSpPr>
        <p:spPr>
          <a:xfrm>
            <a:off x="7251192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0" name="Rectangle 339"/>
          <p:cNvSpPr/>
          <p:nvPr/>
        </p:nvSpPr>
        <p:spPr>
          <a:xfrm>
            <a:off x="7306056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1" name="Rectangle 340"/>
          <p:cNvSpPr/>
          <p:nvPr/>
        </p:nvSpPr>
        <p:spPr>
          <a:xfrm>
            <a:off x="7360920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2" name="Rectangle 341"/>
          <p:cNvSpPr/>
          <p:nvPr/>
        </p:nvSpPr>
        <p:spPr>
          <a:xfrm>
            <a:off x="7415783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3" name="Rectangle 342"/>
          <p:cNvSpPr/>
          <p:nvPr/>
        </p:nvSpPr>
        <p:spPr>
          <a:xfrm>
            <a:off x="7470648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4" name="Rectangle 343"/>
          <p:cNvSpPr/>
          <p:nvPr/>
        </p:nvSpPr>
        <p:spPr>
          <a:xfrm>
            <a:off x="7525512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5" name="Rectangle 344"/>
          <p:cNvSpPr/>
          <p:nvPr/>
        </p:nvSpPr>
        <p:spPr>
          <a:xfrm>
            <a:off x="7580375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6" name="Rectangle 345"/>
          <p:cNvSpPr/>
          <p:nvPr/>
        </p:nvSpPr>
        <p:spPr>
          <a:xfrm>
            <a:off x="7635240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7" name="Rectangle 346"/>
          <p:cNvSpPr/>
          <p:nvPr/>
        </p:nvSpPr>
        <p:spPr>
          <a:xfrm>
            <a:off x="7690104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8" name="Rectangle 347"/>
          <p:cNvSpPr/>
          <p:nvPr/>
        </p:nvSpPr>
        <p:spPr>
          <a:xfrm>
            <a:off x="7744968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9" name="Rectangle 348"/>
          <p:cNvSpPr/>
          <p:nvPr/>
        </p:nvSpPr>
        <p:spPr>
          <a:xfrm>
            <a:off x="7799831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0" name="Rectangle 349"/>
          <p:cNvSpPr/>
          <p:nvPr/>
        </p:nvSpPr>
        <p:spPr>
          <a:xfrm>
            <a:off x="7854696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1" name="Rectangle 350"/>
          <p:cNvSpPr/>
          <p:nvPr/>
        </p:nvSpPr>
        <p:spPr>
          <a:xfrm>
            <a:off x="7909560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2" name="Rectangle 351"/>
          <p:cNvSpPr/>
          <p:nvPr/>
        </p:nvSpPr>
        <p:spPr>
          <a:xfrm>
            <a:off x="7964423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3" name="Rectangle 352"/>
          <p:cNvSpPr/>
          <p:nvPr/>
        </p:nvSpPr>
        <p:spPr>
          <a:xfrm>
            <a:off x="8019288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4" name="Rectangle 353"/>
          <p:cNvSpPr/>
          <p:nvPr/>
        </p:nvSpPr>
        <p:spPr>
          <a:xfrm>
            <a:off x="8074152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5" name="Rectangle 354"/>
          <p:cNvSpPr/>
          <p:nvPr/>
        </p:nvSpPr>
        <p:spPr>
          <a:xfrm>
            <a:off x="8129016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6" name="Rectangle 355"/>
          <p:cNvSpPr/>
          <p:nvPr/>
        </p:nvSpPr>
        <p:spPr>
          <a:xfrm>
            <a:off x="8183879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7" name="Rectangle 356"/>
          <p:cNvSpPr/>
          <p:nvPr/>
        </p:nvSpPr>
        <p:spPr>
          <a:xfrm>
            <a:off x="8238744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8" name="Rectangle 357"/>
          <p:cNvSpPr/>
          <p:nvPr/>
        </p:nvSpPr>
        <p:spPr>
          <a:xfrm>
            <a:off x="8293608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9" name="Rectangle 358"/>
          <p:cNvSpPr/>
          <p:nvPr/>
        </p:nvSpPr>
        <p:spPr>
          <a:xfrm>
            <a:off x="8348472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0" name="Rectangle 359"/>
          <p:cNvSpPr/>
          <p:nvPr/>
        </p:nvSpPr>
        <p:spPr>
          <a:xfrm>
            <a:off x="8403336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1" name="Rectangle 360"/>
          <p:cNvSpPr/>
          <p:nvPr/>
        </p:nvSpPr>
        <p:spPr>
          <a:xfrm>
            <a:off x="8458200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2" name="Rectangle 361"/>
          <p:cNvSpPr/>
          <p:nvPr/>
        </p:nvSpPr>
        <p:spPr>
          <a:xfrm>
            <a:off x="8513064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3" name="Rectangle 362"/>
          <p:cNvSpPr/>
          <p:nvPr/>
        </p:nvSpPr>
        <p:spPr>
          <a:xfrm>
            <a:off x="8567928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4" name="Rectangle 363"/>
          <p:cNvSpPr/>
          <p:nvPr/>
        </p:nvSpPr>
        <p:spPr>
          <a:xfrm>
            <a:off x="8622792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5" name="Rectangle 364"/>
          <p:cNvSpPr/>
          <p:nvPr/>
        </p:nvSpPr>
        <p:spPr>
          <a:xfrm>
            <a:off x="8677656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6" name="Rectangle 365"/>
          <p:cNvSpPr/>
          <p:nvPr/>
        </p:nvSpPr>
        <p:spPr>
          <a:xfrm>
            <a:off x="8732520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7" name="Rectangle 366"/>
          <p:cNvSpPr/>
          <p:nvPr/>
        </p:nvSpPr>
        <p:spPr>
          <a:xfrm>
            <a:off x="8787384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8" name="Rectangle 367"/>
          <p:cNvSpPr/>
          <p:nvPr/>
        </p:nvSpPr>
        <p:spPr>
          <a:xfrm>
            <a:off x="8842248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9" name="Rectangle 368"/>
          <p:cNvSpPr/>
          <p:nvPr/>
        </p:nvSpPr>
        <p:spPr>
          <a:xfrm>
            <a:off x="8897112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0" name="Rectangle 369"/>
          <p:cNvSpPr/>
          <p:nvPr/>
        </p:nvSpPr>
        <p:spPr>
          <a:xfrm>
            <a:off x="8951976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1" name="Rectangle 370"/>
          <p:cNvSpPr/>
          <p:nvPr/>
        </p:nvSpPr>
        <p:spPr>
          <a:xfrm>
            <a:off x="9006840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2" name="Rectangle 371"/>
          <p:cNvSpPr/>
          <p:nvPr/>
        </p:nvSpPr>
        <p:spPr>
          <a:xfrm>
            <a:off x="9061704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3" name="Rectangle 372"/>
          <p:cNvSpPr/>
          <p:nvPr/>
        </p:nvSpPr>
        <p:spPr>
          <a:xfrm>
            <a:off x="9116568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4" name="Rectangle 373"/>
          <p:cNvSpPr/>
          <p:nvPr/>
        </p:nvSpPr>
        <p:spPr>
          <a:xfrm>
            <a:off x="9171432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5" name="Rectangle 374"/>
          <p:cNvSpPr/>
          <p:nvPr/>
        </p:nvSpPr>
        <p:spPr>
          <a:xfrm>
            <a:off x="9226296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6" name="Rectangle 375"/>
          <p:cNvSpPr/>
          <p:nvPr/>
        </p:nvSpPr>
        <p:spPr>
          <a:xfrm>
            <a:off x="9281160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7" name="Rectangle 376"/>
          <p:cNvSpPr/>
          <p:nvPr/>
        </p:nvSpPr>
        <p:spPr>
          <a:xfrm>
            <a:off x="9336024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8" name="Rectangle 377"/>
          <p:cNvSpPr/>
          <p:nvPr/>
        </p:nvSpPr>
        <p:spPr>
          <a:xfrm>
            <a:off x="9390888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9" name="Rectangle 378"/>
          <p:cNvSpPr/>
          <p:nvPr/>
        </p:nvSpPr>
        <p:spPr>
          <a:xfrm>
            <a:off x="9445752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0" name="Rectangle 379"/>
          <p:cNvSpPr/>
          <p:nvPr/>
        </p:nvSpPr>
        <p:spPr>
          <a:xfrm>
            <a:off x="9500616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1" name="Rectangle 380"/>
          <p:cNvSpPr/>
          <p:nvPr/>
        </p:nvSpPr>
        <p:spPr>
          <a:xfrm>
            <a:off x="9555480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2" name="Rectangle 381"/>
          <p:cNvSpPr/>
          <p:nvPr/>
        </p:nvSpPr>
        <p:spPr>
          <a:xfrm>
            <a:off x="9610344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3" name="Rectangle 382"/>
          <p:cNvSpPr/>
          <p:nvPr/>
        </p:nvSpPr>
        <p:spPr>
          <a:xfrm>
            <a:off x="9665208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4" name="Rectangle 383"/>
          <p:cNvSpPr/>
          <p:nvPr/>
        </p:nvSpPr>
        <p:spPr>
          <a:xfrm>
            <a:off x="9720072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5" name="Rectangle 384"/>
          <p:cNvSpPr/>
          <p:nvPr/>
        </p:nvSpPr>
        <p:spPr>
          <a:xfrm>
            <a:off x="9774936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6" name="Rectangle 385"/>
          <p:cNvSpPr/>
          <p:nvPr/>
        </p:nvSpPr>
        <p:spPr>
          <a:xfrm>
            <a:off x="9829800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7" name="Rectangle 386"/>
          <p:cNvSpPr/>
          <p:nvPr/>
        </p:nvSpPr>
        <p:spPr>
          <a:xfrm>
            <a:off x="9884664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8" name="Rectangle 387"/>
          <p:cNvSpPr/>
          <p:nvPr/>
        </p:nvSpPr>
        <p:spPr>
          <a:xfrm>
            <a:off x="9939528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9" name="Rectangle 388"/>
          <p:cNvSpPr/>
          <p:nvPr/>
        </p:nvSpPr>
        <p:spPr>
          <a:xfrm>
            <a:off x="9994392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0" name="Rectangle 389"/>
          <p:cNvSpPr/>
          <p:nvPr/>
        </p:nvSpPr>
        <p:spPr>
          <a:xfrm>
            <a:off x="10049256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1" name="Rectangle 390"/>
          <p:cNvSpPr/>
          <p:nvPr/>
        </p:nvSpPr>
        <p:spPr>
          <a:xfrm>
            <a:off x="10104120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2" name="Rectangle 391"/>
          <p:cNvSpPr/>
          <p:nvPr/>
        </p:nvSpPr>
        <p:spPr>
          <a:xfrm>
            <a:off x="10158984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3" name="Rectangle 392"/>
          <p:cNvSpPr/>
          <p:nvPr/>
        </p:nvSpPr>
        <p:spPr>
          <a:xfrm>
            <a:off x="10213848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4" name="Rectangle 393"/>
          <p:cNvSpPr/>
          <p:nvPr/>
        </p:nvSpPr>
        <p:spPr>
          <a:xfrm>
            <a:off x="10268712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5" name="Rectangle 394"/>
          <p:cNvSpPr/>
          <p:nvPr/>
        </p:nvSpPr>
        <p:spPr>
          <a:xfrm>
            <a:off x="10323576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6" name="Rectangle 395"/>
          <p:cNvSpPr/>
          <p:nvPr/>
        </p:nvSpPr>
        <p:spPr>
          <a:xfrm>
            <a:off x="10378440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7" name="Rectangle 396"/>
          <p:cNvSpPr/>
          <p:nvPr/>
        </p:nvSpPr>
        <p:spPr>
          <a:xfrm>
            <a:off x="10433304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8" name="Rectangle 397"/>
          <p:cNvSpPr/>
          <p:nvPr/>
        </p:nvSpPr>
        <p:spPr>
          <a:xfrm>
            <a:off x="10488168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9" name="Rectangle 398"/>
          <p:cNvSpPr/>
          <p:nvPr/>
        </p:nvSpPr>
        <p:spPr>
          <a:xfrm>
            <a:off x="10543032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0" name="Rectangle 399"/>
          <p:cNvSpPr/>
          <p:nvPr/>
        </p:nvSpPr>
        <p:spPr>
          <a:xfrm>
            <a:off x="10597896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1" name="Rectangle 400"/>
          <p:cNvSpPr/>
          <p:nvPr/>
        </p:nvSpPr>
        <p:spPr>
          <a:xfrm>
            <a:off x="10652760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2" name="Rectangle 401"/>
          <p:cNvSpPr/>
          <p:nvPr/>
        </p:nvSpPr>
        <p:spPr>
          <a:xfrm>
            <a:off x="10707624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3" name="Rectangle 402"/>
          <p:cNvSpPr/>
          <p:nvPr/>
        </p:nvSpPr>
        <p:spPr>
          <a:xfrm>
            <a:off x="10762488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4" name="Rectangle 403"/>
          <p:cNvSpPr/>
          <p:nvPr/>
        </p:nvSpPr>
        <p:spPr>
          <a:xfrm>
            <a:off x="10817352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5" name="Rectangle 404"/>
          <p:cNvSpPr/>
          <p:nvPr/>
        </p:nvSpPr>
        <p:spPr>
          <a:xfrm>
            <a:off x="10872216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6" name="Rectangle 405"/>
          <p:cNvSpPr/>
          <p:nvPr/>
        </p:nvSpPr>
        <p:spPr>
          <a:xfrm>
            <a:off x="10927080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7" name="Rectangle 406"/>
          <p:cNvSpPr/>
          <p:nvPr/>
        </p:nvSpPr>
        <p:spPr>
          <a:xfrm>
            <a:off x="10981944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8" name="Rectangle 407"/>
          <p:cNvSpPr/>
          <p:nvPr/>
        </p:nvSpPr>
        <p:spPr>
          <a:xfrm>
            <a:off x="11036808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9" name="Rectangle 408"/>
          <p:cNvSpPr/>
          <p:nvPr/>
        </p:nvSpPr>
        <p:spPr>
          <a:xfrm>
            <a:off x="11091672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0" name="Rectangle 409"/>
          <p:cNvSpPr/>
          <p:nvPr/>
        </p:nvSpPr>
        <p:spPr>
          <a:xfrm>
            <a:off x="11146536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1" name="Rectangle 410"/>
          <p:cNvSpPr/>
          <p:nvPr/>
        </p:nvSpPr>
        <p:spPr>
          <a:xfrm>
            <a:off x="11201400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2" name="Rectangle 411"/>
          <p:cNvSpPr/>
          <p:nvPr/>
        </p:nvSpPr>
        <p:spPr>
          <a:xfrm>
            <a:off x="11256264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3" name="Rectangle 412"/>
          <p:cNvSpPr/>
          <p:nvPr/>
        </p:nvSpPr>
        <p:spPr>
          <a:xfrm>
            <a:off x="11311128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4" name="Rectangle 413"/>
          <p:cNvSpPr/>
          <p:nvPr/>
        </p:nvSpPr>
        <p:spPr>
          <a:xfrm>
            <a:off x="11365992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5" name="Rectangle 414"/>
          <p:cNvSpPr/>
          <p:nvPr/>
        </p:nvSpPr>
        <p:spPr>
          <a:xfrm>
            <a:off x="11420856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6" name="Rectangle 415"/>
          <p:cNvSpPr/>
          <p:nvPr/>
        </p:nvSpPr>
        <p:spPr>
          <a:xfrm>
            <a:off x="11475720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7" name="Rectangle 416"/>
          <p:cNvSpPr/>
          <p:nvPr/>
        </p:nvSpPr>
        <p:spPr>
          <a:xfrm>
            <a:off x="11530584" y="2011680"/>
            <a:ext cx="27432" cy="2743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8" name="TextBox 417"/>
          <p:cNvSpPr txBox="1"/>
          <p:nvPr/>
        </p:nvSpPr>
        <p:spPr>
          <a:xfrm>
            <a:off x="10817352" y="3246120"/>
            <a:ext cx="10972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0">
                <a:solidFill>
                  <a:srgbClr val="F59E0B"/>
                </a:solidFill>
                <a:latin typeface="Calibri"/>
              </a:defRPr>
            </a:pPr>
            <a:r>
              <a:t>PR threshold</a:t>
            </a:r>
          </a:p>
        </p:txBody>
      </p:sp>
      <p:sp>
        <p:nvSpPr>
          <p:cNvPr id="419" name="TextBox 418"/>
          <p:cNvSpPr txBox="1"/>
          <p:nvPr/>
        </p:nvSpPr>
        <p:spPr>
          <a:xfrm>
            <a:off x="10817352" y="1874520"/>
            <a:ext cx="10972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0">
                <a:solidFill>
                  <a:srgbClr val="E11D48"/>
                </a:solidFill>
                <a:latin typeface="Calibri"/>
              </a:defRPr>
            </a:pPr>
            <a:r>
              <a:t>PD threshold</a:t>
            </a:r>
          </a:p>
        </p:txBody>
      </p:sp>
      <p:sp>
        <p:nvSpPr>
          <p:cNvPr id="420" name="Rectangle 419"/>
          <p:cNvSpPr/>
          <p:nvPr/>
        </p:nvSpPr>
        <p:spPr>
          <a:xfrm>
            <a:off x="1143000" y="2560320"/>
            <a:ext cx="481431" cy="2736339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1" name="Rectangle 420"/>
          <p:cNvSpPr/>
          <p:nvPr/>
        </p:nvSpPr>
        <p:spPr>
          <a:xfrm>
            <a:off x="1661007" y="2560320"/>
            <a:ext cx="481431" cy="26819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2" name="Rectangle 421"/>
          <p:cNvSpPr/>
          <p:nvPr/>
        </p:nvSpPr>
        <p:spPr>
          <a:xfrm>
            <a:off x="2179015" y="2560320"/>
            <a:ext cx="481431" cy="2667753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3" name="Rectangle 422"/>
          <p:cNvSpPr/>
          <p:nvPr/>
        </p:nvSpPr>
        <p:spPr>
          <a:xfrm>
            <a:off x="2697022" y="2560320"/>
            <a:ext cx="481431" cy="2577431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4" name="Rectangle 423"/>
          <p:cNvSpPr/>
          <p:nvPr/>
        </p:nvSpPr>
        <p:spPr>
          <a:xfrm>
            <a:off x="3215030" y="2560320"/>
            <a:ext cx="481431" cy="25677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5" name="Rectangle 424"/>
          <p:cNvSpPr/>
          <p:nvPr/>
        </p:nvSpPr>
        <p:spPr>
          <a:xfrm>
            <a:off x="3733037" y="2560320"/>
            <a:ext cx="481431" cy="2541171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6" name="Rectangle 425"/>
          <p:cNvSpPr/>
          <p:nvPr/>
        </p:nvSpPr>
        <p:spPr>
          <a:xfrm>
            <a:off x="4251045" y="2560320"/>
            <a:ext cx="481431" cy="252256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7" name="Rectangle 426"/>
          <p:cNvSpPr/>
          <p:nvPr/>
        </p:nvSpPr>
        <p:spPr>
          <a:xfrm>
            <a:off x="4769053" y="2560320"/>
            <a:ext cx="481431" cy="2396121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8" name="Rectangle 427"/>
          <p:cNvSpPr/>
          <p:nvPr/>
        </p:nvSpPr>
        <p:spPr>
          <a:xfrm>
            <a:off x="5287060" y="2560320"/>
            <a:ext cx="481431" cy="220094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9" name="Rectangle 428"/>
          <p:cNvSpPr/>
          <p:nvPr/>
        </p:nvSpPr>
        <p:spPr>
          <a:xfrm>
            <a:off x="5805068" y="2560320"/>
            <a:ext cx="481431" cy="212083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0" name="Rectangle 429"/>
          <p:cNvSpPr/>
          <p:nvPr/>
        </p:nvSpPr>
        <p:spPr>
          <a:xfrm>
            <a:off x="6323076" y="2560320"/>
            <a:ext cx="481431" cy="1956327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1" name="Rectangle 430"/>
          <p:cNvSpPr/>
          <p:nvPr/>
        </p:nvSpPr>
        <p:spPr>
          <a:xfrm>
            <a:off x="6841083" y="2560320"/>
            <a:ext cx="481431" cy="1749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2" name="Rectangle 431"/>
          <p:cNvSpPr/>
          <p:nvPr/>
        </p:nvSpPr>
        <p:spPr>
          <a:xfrm>
            <a:off x="7359091" y="2560320"/>
            <a:ext cx="481431" cy="1624081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3" name="Rectangle 432"/>
          <p:cNvSpPr/>
          <p:nvPr/>
        </p:nvSpPr>
        <p:spPr>
          <a:xfrm>
            <a:off x="7877098" y="2560320"/>
            <a:ext cx="481431" cy="148228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4" name="Rectangle 433"/>
          <p:cNvSpPr/>
          <p:nvPr/>
        </p:nvSpPr>
        <p:spPr>
          <a:xfrm>
            <a:off x="8395106" y="2560320"/>
            <a:ext cx="481431" cy="119745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5" name="Rectangle 434"/>
          <p:cNvSpPr/>
          <p:nvPr/>
        </p:nvSpPr>
        <p:spPr>
          <a:xfrm>
            <a:off x="8913114" y="2560320"/>
            <a:ext cx="481431" cy="1111091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6" name="Rectangle 435"/>
          <p:cNvSpPr/>
          <p:nvPr/>
        </p:nvSpPr>
        <p:spPr>
          <a:xfrm>
            <a:off x="9431121" y="2560320"/>
            <a:ext cx="481431" cy="4741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7" name="Rectangle 436"/>
          <p:cNvSpPr/>
          <p:nvPr/>
        </p:nvSpPr>
        <p:spPr>
          <a:xfrm>
            <a:off x="9949129" y="2560320"/>
            <a:ext cx="481431" cy="12003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8" name="Rectangle 437"/>
          <p:cNvSpPr/>
          <p:nvPr/>
        </p:nvSpPr>
        <p:spPr>
          <a:xfrm>
            <a:off x="10467136" y="2468969"/>
            <a:ext cx="481431" cy="913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9" name="Rectangle 438"/>
          <p:cNvSpPr/>
          <p:nvPr/>
        </p:nvSpPr>
        <p:spPr>
          <a:xfrm>
            <a:off x="10985144" y="2008114"/>
            <a:ext cx="481431" cy="552205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0" name="TextBox 439"/>
          <p:cNvSpPr txBox="1"/>
          <p:nvPr/>
        </p:nvSpPr>
        <p:spPr>
          <a:xfrm>
            <a:off x="4265676" y="53492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475569"/>
                </a:solidFill>
                <a:latin typeface="Calibri"/>
              </a:defRPr>
            </a:pPr>
            <a:r>
              <a:t>Patients (ordered by best response)</a:t>
            </a:r>
          </a:p>
        </p:txBody>
      </p:sp>
      <p:sp>
        <p:nvSpPr>
          <p:cNvPr id="441" name="Rectangle 440"/>
          <p:cNvSpPr/>
          <p:nvPr/>
        </p:nvSpPr>
        <p:spPr>
          <a:xfrm>
            <a:off x="914400" y="5733288"/>
            <a:ext cx="164592" cy="12801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2" name="TextBox 441"/>
          <p:cNvSpPr txBox="1"/>
          <p:nvPr/>
        </p:nvSpPr>
        <p:spPr>
          <a:xfrm>
            <a:off x="1115568" y="5715000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475569"/>
                </a:solidFill>
                <a:latin typeface="Calibri"/>
              </a:defRPr>
            </a:pPr>
            <a:r>
              <a:t>CR/sCR</a:t>
            </a:r>
          </a:p>
        </p:txBody>
      </p:sp>
      <p:sp>
        <p:nvSpPr>
          <p:cNvPr id="443" name="Rectangle 442"/>
          <p:cNvSpPr/>
          <p:nvPr/>
        </p:nvSpPr>
        <p:spPr>
          <a:xfrm>
            <a:off x="1920240" y="5733288"/>
            <a:ext cx="164592" cy="12801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4" name="TextBox 443"/>
          <p:cNvSpPr txBox="1"/>
          <p:nvPr/>
        </p:nvSpPr>
        <p:spPr>
          <a:xfrm>
            <a:off x="2121408" y="5715000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475569"/>
                </a:solidFill>
                <a:latin typeface="Calibri"/>
              </a:defRPr>
            </a:pPr>
            <a:r>
              <a:t>VGPR</a:t>
            </a:r>
          </a:p>
        </p:txBody>
      </p:sp>
      <p:sp>
        <p:nvSpPr>
          <p:cNvPr id="445" name="Rectangle 444"/>
          <p:cNvSpPr/>
          <p:nvPr/>
        </p:nvSpPr>
        <p:spPr>
          <a:xfrm>
            <a:off x="2926080" y="5733288"/>
            <a:ext cx="164592" cy="1280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6" name="TextBox 445"/>
          <p:cNvSpPr txBox="1"/>
          <p:nvPr/>
        </p:nvSpPr>
        <p:spPr>
          <a:xfrm>
            <a:off x="3127248" y="5715000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475569"/>
                </a:solidFill>
                <a:latin typeface="Calibri"/>
              </a:defRPr>
            </a:pPr>
            <a:r>
              <a:t>PR</a:t>
            </a:r>
          </a:p>
        </p:txBody>
      </p:sp>
      <p:sp>
        <p:nvSpPr>
          <p:cNvPr id="447" name="Rectangle 446"/>
          <p:cNvSpPr/>
          <p:nvPr/>
        </p:nvSpPr>
        <p:spPr>
          <a:xfrm>
            <a:off x="3931920" y="5733288"/>
            <a:ext cx="164592" cy="128016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8" name="TextBox 447"/>
          <p:cNvSpPr txBox="1"/>
          <p:nvPr/>
        </p:nvSpPr>
        <p:spPr>
          <a:xfrm>
            <a:off x="4133088" y="5715000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475569"/>
                </a:solidFill>
                <a:latin typeface="Calibri"/>
              </a:defRPr>
            </a:pPr>
            <a:r>
              <a:t>SD</a:t>
            </a:r>
          </a:p>
        </p:txBody>
      </p:sp>
      <p:sp>
        <p:nvSpPr>
          <p:cNvPr id="449" name="Rectangle 448"/>
          <p:cNvSpPr/>
          <p:nvPr/>
        </p:nvSpPr>
        <p:spPr>
          <a:xfrm>
            <a:off x="4937760" y="5733288"/>
            <a:ext cx="164592" cy="128016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0" name="TextBox 449"/>
          <p:cNvSpPr txBox="1"/>
          <p:nvPr/>
        </p:nvSpPr>
        <p:spPr>
          <a:xfrm>
            <a:off x="5138928" y="5715000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475569"/>
                </a:solidFill>
                <a:latin typeface="Calibri"/>
              </a:defRPr>
            </a:pPr>
            <a:r>
              <a:t>PD</a:t>
            </a:r>
          </a:p>
        </p:txBody>
      </p:sp>
      <p:sp>
        <p:nvSpPr>
          <p:cNvPr id="451" name="TextBox 450"/>
          <p:cNvSpPr txBox="1"/>
          <p:nvPr/>
        </p:nvSpPr>
        <p:spPr>
          <a:xfrm>
            <a:off x="457200" y="598932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{{waterfall_summary}}</a:t>
            </a:r>
          </a:p>
        </p:txBody>
      </p:sp>
      <p:sp>
        <p:nvSpPr>
          <p:cNvPr id="452" name="Rectangle 451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AFB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3" name="TextBox 452"/>
          <p:cNvSpPr txBox="1"/>
          <p:nvPr/>
        </p:nvSpPr>
        <p:spPr>
          <a:xfrm>
            <a:off x="475488" y="656539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Calibri"/>
              </a:defRPr>
            </a:pPr>
            <a:r>
              <a:t>{{footer_refs}}</a:t>
            </a:r>
          </a:p>
        </p:txBody>
      </p:sp>
      <p:sp>
        <p:nvSpPr>
          <p:cNvPr id="454" name="TextBox 453"/>
          <p:cNvSpPr txBox="1"/>
          <p:nvPr/>
        </p:nvSpPr>
        <p:spPr>
          <a:xfrm>
            <a:off x="8229600" y="656539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8B5CF6"/>
                </a:solidFill>
                <a:latin typeface="Calibri"/>
              </a:defRPr>
            </a:pPr>
            <a:r>
              <a:t>{{confidence}}% Confidence · medaccur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</Words>
  <Application>Microsoft Office PowerPoint</Application>
  <PresentationFormat>Custom</PresentationFormat>
  <Paragraphs>27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Bertan</dc:creator>
  <cp:keywords/>
  <dc:description>generated using python-pptx</dc:description>
  <cp:lastModifiedBy>Bertan Bopp</cp:lastModifiedBy>
  <cp:revision>2</cp:revision>
  <dcterms:created xsi:type="dcterms:W3CDTF">2013-01-27T09:14:16Z</dcterms:created>
  <dcterms:modified xsi:type="dcterms:W3CDTF">2026-04-01T21:19:52Z</dcterms:modified>
  <cp:category/>
</cp:coreProperties>
</file>