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59" r:id="rId10"/>
    <p:sldId id="260" r:id="rId11"/>
    <p:sldId id="261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52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9A58C-2418-41D4-A330-1978CA34A93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4E9A8-E6FD-4FE3-A7A0-2408624734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59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4E9A8-E6FD-4FE3-A7A0-2408624734D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240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8A67-D60F-4B73-BA77-89F7B299D43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81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652" y="109728"/>
            <a:ext cx="59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832" y="99896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7580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34052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731519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3268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Establish Belantamab Mafodotin as the preferred BCMA-targeting agent in 2L+ RRMM through evidence generation, KOL engagement, and scientific leadership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Drive robust clinical evidence to support regulatory and HTA submissions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65176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Pivotal trials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259572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3/4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292608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RWE studies initiated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287004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200400"/>
            <a:ext cx="4572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Publications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1443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DREAMM-7 data dissemination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ISS/IIS programme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RWE protocol development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2122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53562" y="15544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53562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1033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90138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Build and sustain strategic relationships with global thought leaders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90138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90138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90138" y="265176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81578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Tier 1 KOLs engaged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0138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15/20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90138" y="292608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81578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Advisory boards planned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0138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90138" y="3200400"/>
            <a:ext cx="45720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81578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Congress symposia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138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90138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90138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90138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6441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KOL mapping &amp; tiering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90138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36441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Ad board execution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90138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6441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Congress strategy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58484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49924" y="1554480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49924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97396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SCIENTIFIC LEADERSHIP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6500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Position as category leader through proactive medical communications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86500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86500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86500" y="265176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77940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Scientific publications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86500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8/12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500" y="292608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77940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Congress presentations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86500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86500" y="3200400"/>
            <a:ext cx="4572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77940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Medical education events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6500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86500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86500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86500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32804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Publication planning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86500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Medical education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86500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Digital engagement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54846" y="1426464"/>
            <a:ext cx="2768346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146286" y="1554480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146286" y="1572768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93758" y="1554480"/>
            <a:ext cx="223799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MARKET ACCESS SUPPORT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2862" y="1901952"/>
            <a:ext cx="2512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Enable optimal access through HEOR evidence and payer engagement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182862" y="2386584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182862" y="2450592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82862" y="265176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274302" y="261518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HTA submissions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82862" y="259571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82862" y="292608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274302" y="288950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Budget impact models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2862" y="287003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182862" y="3200400"/>
            <a:ext cx="45720" cy="4572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274302" y="3163824"/>
            <a:ext cx="231114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Payer advisory boards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82862" y="3144356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2862" y="3493008"/>
            <a:ext cx="2512313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82862" y="3566160"/>
            <a:ext cx="251231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82862" y="3749039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9166" y="3749039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HEOR dossier development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82862" y="398678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29166" y="3986783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Payer evidence plan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82862" y="4224527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9166" y="4224527"/>
            <a:ext cx="23660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HTA submission support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5029199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65760" y="5029199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8640" y="5120639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Cross-functional Alignment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66974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Digital Infrastructure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85308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Compliance &amp; MLR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3643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Training &amp; Capability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21977" y="5340095"/>
            <a:ext cx="212689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Budget &amp; Resource Planning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Medical Affairs Strategic Plan 2027 · Internal use only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 ·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521208"/>
            <a:ext cx="11859768" cy="5879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7712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766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0766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3820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820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6874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6874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6874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28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19928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2982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2982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6036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6036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6036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9090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9090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2144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2144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5198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5198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198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8252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8252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1306" y="1042415"/>
            <a:ext cx="81305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1306" y="1024128"/>
            <a:ext cx="4572" cy="182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7712" y="1188719"/>
            <a:ext cx="9756648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2303" y="84537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243584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592" y="1243584"/>
            <a:ext cx="36576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13167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Publications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554480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" y="1536192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6874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46036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85198" y="124358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86000" y="1371600"/>
            <a:ext cx="3215640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22576" y="1389888"/>
            <a:ext cx="3142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Manuscript 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8216" y="1371600"/>
            <a:ext cx="4028693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74792" y="1389888"/>
            <a:ext cx="39555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Systematic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3486" y="1371600"/>
            <a:ext cx="2402586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40061" y="1389888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Congress Abstract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67712" y="1952243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4592" y="1956815"/>
            <a:ext cx="36576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202996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Congress Strategy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267711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2249423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 activities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6874" y="1956815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146036" y="1956815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85198" y="1956815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099054" y="208483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135630" y="2103120"/>
            <a:ext cx="15163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 Prep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38216" y="208483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4792" y="2103120"/>
            <a:ext cx="15163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 2027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77378" y="208483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13954" y="2103120"/>
            <a:ext cx="15163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ESMO Prep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3486" y="208483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640061" y="2103120"/>
            <a:ext cx="15163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ASH 2027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67712" y="2665476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64592" y="2670048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64592" y="2670048"/>
            <a:ext cx="36576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4320" y="2743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2980944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84048" y="2962656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 activities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06874" y="2670048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146036" y="2670048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585198" y="2670048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2286000" y="2798064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322576" y="2816352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KOL Mapping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25162" y="2798064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61738" y="2816352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Advisory Board 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164324" y="2798064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200900" y="2816352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Advisory Board 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3486" y="2798064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640061" y="2816352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Steering Comm.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67712" y="337870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64592" y="3383279"/>
            <a:ext cx="36576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74320" y="3456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69417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4048" y="3675887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6874" y="3383279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146036" y="3383279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585198" y="3383279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2286000" y="3511296"/>
            <a:ext cx="9720072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322576" y="3529584"/>
            <a:ext cx="9646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DREAMM-7 Data Collection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25162" y="3766933"/>
            <a:ext cx="5654802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761738" y="3775394"/>
            <a:ext cx="558165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RWE Study Design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67712" y="4091939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64592" y="4096512"/>
            <a:ext cx="11859768" cy="71323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64592" y="4096512"/>
            <a:ext cx="36576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74320" y="41696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Medical Education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44074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84048" y="4389120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06874" y="4096512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146036" y="4096512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585198" y="4096512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3099054" y="4224528"/>
            <a:ext cx="2402586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135630" y="4242816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Slide Deck Dev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538216" y="4224528"/>
            <a:ext cx="2402586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574792" y="4242816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Webinar Series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790432" y="4224528"/>
            <a:ext cx="2402586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827008" y="4242816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Training Prog.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67712" y="4805172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64592" y="4809744"/>
            <a:ext cx="36576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74320" y="48828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Market Access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512064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84048" y="5102352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706874" y="480974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146036" y="480974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9585198" y="4809744"/>
            <a:ext cx="4572" cy="7132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2286000" y="4937759"/>
            <a:ext cx="4028693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322576" y="4956047"/>
            <a:ext cx="395554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HEOR Dossier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351270" y="4937759"/>
            <a:ext cx="321564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387846" y="4956047"/>
            <a:ext cx="3142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HTA Submission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603486" y="4937759"/>
            <a:ext cx="2402586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640061" y="4956047"/>
            <a:ext cx="232943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Payer Engagement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67712" y="5518404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74320" y="5614415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227195" y="5650991"/>
            <a:ext cx="146304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52875" y="5833871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6366F1"/>
                </a:solidFill>
                <a:latin typeface="Arial"/>
              </a:defRPr>
            </a:pPr>
            <a:r>
              <a:t>EHA Abstract</a:t>
            </a:r>
            <a:br/>
            <a:r>
              <a:t>Deadline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66357" y="5650991"/>
            <a:ext cx="146304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392037" y="5833871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6366F1"/>
                </a:solidFill>
                <a:latin typeface="Arial"/>
              </a:defRPr>
            </a:pPr>
            <a:r>
              <a:t>EHA</a:t>
            </a:r>
            <a:br/>
            <a:r>
              <a:t>2027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05519" y="5650991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831199" y="5833871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3B82F6"/>
                </a:solidFill>
                <a:latin typeface="Arial"/>
              </a:defRPr>
            </a:pPr>
            <a:r>
              <a:t>ESMO</a:t>
            </a:r>
            <a:br/>
            <a:r>
              <a:t>Deadline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544681" y="5650991"/>
            <a:ext cx="146304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1270361" y="5833871"/>
            <a:ext cx="694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8B5CF6"/>
                </a:solidFill>
                <a:latin typeface="Arial"/>
              </a:defRPr>
            </a:pPr>
            <a:r>
              <a:t>ASH</a:t>
            </a:r>
            <a:br/>
            <a:r>
              <a:t>2027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Medical Affairs Tactical Plan 2027 · Internal use only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18E8749-5B3C-4E2E-ECB9-8C4C93C20C3D}"/>
              </a:ext>
            </a:extLst>
          </p:cNvPr>
          <p:cNvSpPr txBox="1"/>
          <p:nvPr/>
        </p:nvSpPr>
        <p:spPr>
          <a:xfrm>
            <a:off x="137652" y="109728"/>
            <a:ext cx="59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49BB1C1-8A6F-124A-D7FD-0E1ADACBC5DD}"/>
              </a:ext>
            </a:extLst>
          </p:cNvPr>
          <p:cNvSpPr txBox="1"/>
          <p:nvPr/>
        </p:nvSpPr>
        <p:spPr>
          <a:xfrm>
            <a:off x="519832" y="99896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69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" y="804672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" y="84124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658368"/>
            <a:ext cx="36576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76809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0241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Drive robust clinical evidence to support regulatory and HTA submissions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749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0" y="749808"/>
            <a:ext cx="2743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9" y="804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Pivotal trials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987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3/4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59" y="1545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94959" y="1545336"/>
            <a:ext cx="1414576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43800" y="749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749808"/>
            <a:ext cx="2743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804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RWE studies initiated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987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545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1545336"/>
            <a:ext cx="101041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84080" y="749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749808"/>
            <a:ext cx="2743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804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Publications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987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19" y="1545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75519" y="1545336"/>
            <a:ext cx="101041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" y="1801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0896" y="1947672"/>
            <a:ext cx="4572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" y="19842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1801368"/>
            <a:ext cx="36576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1911095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1671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Build and sustain strategic relationships with global thought leaders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1892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1892807"/>
            <a:ext cx="2743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59" y="1947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Tier 1 KOLs engaged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2130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15/20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59" y="2688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94959" y="2688336"/>
            <a:ext cx="141457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543800" y="1892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43800" y="1892807"/>
            <a:ext cx="2743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1947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Advisory boards planned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130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688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635240" y="2688336"/>
            <a:ext cx="10104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784080" y="1892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4080" y="1892807"/>
            <a:ext cx="27432" cy="868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19" y="1947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Congress symposia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19" y="2130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19" y="2688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75519" y="2688336"/>
            <a:ext cx="10104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64592" y="2944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10896" y="3090672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0896" y="31272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2944368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305409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SCIENTIFIC LEADERSHIP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3310127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Position as category leader through proactive medical communications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0" y="3035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303520" y="3035808"/>
            <a:ext cx="27432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94959" y="3090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Scientific publications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59" y="3273551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8/12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59" y="3831335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94959" y="3831335"/>
            <a:ext cx="141457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543800" y="3035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543800" y="3035808"/>
            <a:ext cx="27432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35240" y="3090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Congress presentations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3273551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3831335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635240" y="3831335"/>
            <a:ext cx="101041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784080" y="3035808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784080" y="3035808"/>
            <a:ext cx="27432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875519" y="3090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Medical education events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19" y="3273551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19" y="3831335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875519" y="3831335"/>
            <a:ext cx="101041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64592" y="4087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10896" y="4233672"/>
            <a:ext cx="4572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10896" y="42702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087368"/>
            <a:ext cx="36576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14400" y="419709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MARKET ACCESS SUPPORT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4531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Enable optimal access through HEOR evidence and payer engagement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03520" y="4178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03520" y="4178807"/>
            <a:ext cx="2743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94959" y="4233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HTA submissions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4959" y="4416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94959" y="4974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394959" y="4974336"/>
            <a:ext cx="10104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543800" y="4178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543800" y="4178807"/>
            <a:ext cx="2743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35240" y="4233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Budget impact models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416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35240" y="4974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4974336"/>
            <a:ext cx="10104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784080" y="4178807"/>
            <a:ext cx="2148840" cy="868680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784080" y="4178807"/>
            <a:ext cx="2743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19" y="4233672"/>
            <a:ext cx="20208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Payer advisory boards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75519" y="441655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19" y="4974336"/>
            <a:ext cx="2020824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875519" y="4974336"/>
            <a:ext cx="101041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Medical Affairs Strategic Plan 2027 · Internal use only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medaccur ELISE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46D35B1-18E0-52A2-274D-D6745E9D4E66}"/>
              </a:ext>
            </a:extLst>
          </p:cNvPr>
          <p:cNvSpPr txBox="1"/>
          <p:nvPr/>
        </p:nvSpPr>
        <p:spPr>
          <a:xfrm>
            <a:off x="137652" y="109728"/>
            <a:ext cx="59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94EBB55-CE8F-B793-F2A1-E96CD4BC14A3}"/>
              </a:ext>
            </a:extLst>
          </p:cNvPr>
          <p:cNvSpPr txBox="1"/>
          <p:nvPr/>
        </p:nvSpPr>
        <p:spPr>
          <a:xfrm>
            <a:off x="519832" y="99896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788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 ·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61872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731519"/>
            <a:ext cx="11091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Establish Belantamab Mafodotin as the preferred BCMA-targeting agent in 2L+ RRMM through evidence generation, KOL engagement, and scientific leadership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36192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Drive robust clinical evidence to support regulatory and HTA submissions across key markets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2395728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636224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Pivotal trials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946" y="2588223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3/4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2892256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RWE studies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615" y="2829637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148288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3072384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Publications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615" y="3073538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937" y="3469732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639311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75888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DREAMM-7 data dissemination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8587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953" y="390705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ISS/IIS </a:t>
            </a:r>
            <a:r>
              <a:rPr dirty="0" err="1"/>
              <a:t>programme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493776" y="407822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953" y="4126512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RWE protocol development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1480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12920" y="153619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12920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0392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9496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Build and sustain strategic relationships with global thought leaders in RRMM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9496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49496" y="2395728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9496" y="2636224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40936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Tier 1 KOLs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7530" y="2553939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15/20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9496" y="2892256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40936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Ad boards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9369" y="2834623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9496" y="3148288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40936" y="3072384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Symposia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9369" y="3090655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9496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67657" y="3469732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9496" y="3639311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5673" y="367651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KOL mapping &amp; tiering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9496" y="38587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6214" y="4124939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Ad board execution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9496" y="407822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95800" y="3894980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Congress strategy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77200" y="1408176"/>
            <a:ext cx="3745992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168640" y="1536192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68640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16112" y="1536192"/>
            <a:ext cx="321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SCIENTIFIC LEADERSHIP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5216" y="1865376"/>
            <a:ext cx="3489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Position as category leader through proactive scientific communications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5216" y="2340864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05216" y="2395728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05216" y="2636224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96656" y="2560320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Publications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05089" y="2575426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8/12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05216" y="2892256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96656" y="2816352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Presentations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5089" y="2851122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05216" y="3148288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14817" y="3067396"/>
            <a:ext cx="3288792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Med Ed events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5089" y="3107154"/>
            <a:ext cx="3489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05216" y="3419856"/>
            <a:ext cx="348996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3377" y="3469732"/>
            <a:ext cx="3489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5216" y="3639311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3343" y="368918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Publication planning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05216" y="385876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3232" y="3894582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Medical education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5216" y="4078223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3232" y="4133087"/>
            <a:ext cx="3343656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Digital engagement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5760" y="5870448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5760" y="587044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48640" y="5961888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 dirty="0"/>
              <a:t>Cross-functional Alignment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21558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Digital Infrastructure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94475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Compliance &amp; MLR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7394" y="6163056"/>
            <a:ext cx="2681477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Training &amp; Capability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Medical Affairs Strategic Plan 2027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69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Icotrokinra · Plaque Psoriasis ·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261872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731519"/>
            <a:ext cx="11091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Achieve category leadership for icotrokinra in moderate-to-severe plaque psoriasis through differentiated scientific positioning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36192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Generate compelling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239572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2646056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259959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Trials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2582048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" y="2902088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RWE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2838080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" y="321868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3832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2255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ICONIC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36027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64200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RWE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9191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70632" y="153619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70632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18103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KOL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7208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Engage dermatology leaders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07208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07208" y="239572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7208" y="2646056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KOLs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7208" y="2529254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7208" y="2902088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8648" y="280924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7206" y="2809240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dirty="0"/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7208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07208" y="321868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7208" y="33832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3511" y="341694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Mapping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7208" y="36027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3511" y="363639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Boards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92624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84064" y="1536192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84064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31536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SCIENCE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Scientific leadership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20640" y="239572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2646056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12080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Pubs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2562040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dirty="0"/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2902088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Congress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2818072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20640" y="321868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33832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66944" y="343276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Pub plan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36027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66944" y="365221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Congress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06056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97496" y="1536192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97496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4968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t>ACCESS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34072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Enable market access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4072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434072" y="239572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34072" y="2646056"/>
            <a:ext cx="45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25512" y="2560320"/>
            <a:ext cx="1746503" cy="128016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HTA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34072" y="2550684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4072" y="2902088"/>
            <a:ext cx="45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525512" y="2816352"/>
            <a:ext cx="1746503" cy="128016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BIM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34072" y="2806716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34072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34072" y="321868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34072" y="33832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0376" y="342138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HEOR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4072" y="36027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0376" y="364083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HTA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619488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710928" y="1536192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10928" y="1554480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58400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t>DIGITAL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47504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Digital engagement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47504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747504" y="239572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METRICS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747504" y="2646056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838944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Webinars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10928" y="2557890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59E0B"/>
                </a:solidFill>
                <a:latin typeface="Arial"/>
              </a:defRPr>
            </a:pPr>
            <a:r>
              <a:rPr dirty="0"/>
              <a:t>12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747504" y="290208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838944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Reach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10928" y="2813922"/>
            <a:ext cx="19476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59E0B"/>
                </a:solidFill>
                <a:latin typeface="Arial"/>
              </a:defRPr>
            </a:pPr>
            <a:r>
              <a:t>5K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47504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747504" y="3218688"/>
            <a:ext cx="1947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KEY ACTIONS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47504" y="33832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93809" y="341593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Omnichannel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47504" y="3602736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3809" y="363538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" y="5870448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65760" y="587044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48640" y="5961888"/>
            <a:ext cx="11091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t>FOUNDATIONAL ENABLERS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Alignment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66974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Digital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85308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Compliance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03643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Training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21977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Budget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Medical Affairs Plan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96% Confidence · Source-verified · medaccur ELISE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 ·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7712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76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076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3820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82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6874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6874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6874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28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1992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298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298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6036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6036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603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9090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909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2144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214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5198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5198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198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825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825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130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130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7712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7863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188719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592" y="1188719"/>
            <a:ext cx="36576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12435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Publications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" y="1444751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6874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46036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85198" y="1188719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86000" y="1438351"/>
            <a:ext cx="3215640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22576" y="1447495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DREAMM-7 Manuscript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1270" y="1438351"/>
            <a:ext cx="4028693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7846" y="1447495"/>
            <a:ext cx="3955541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Systematic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16540" y="1438351"/>
            <a:ext cx="1589532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453115" y="1447495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Congress Abstract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67712" y="20985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4592" y="2103120"/>
            <a:ext cx="36576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" y="21579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Congress Strategy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377439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2359152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6874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146036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85198" y="21031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099054" y="235275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135630" y="2361895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 Prep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38216" y="235275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4792" y="2361895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 2027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3486" y="2352751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40061" y="2361895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ASH 2027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67712" y="30129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4592" y="3017520"/>
            <a:ext cx="11859768" cy="91440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64592" y="301752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30723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291839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4048" y="3273552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06874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146036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585198" y="30175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286000" y="3267151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322576" y="3276295"/>
            <a:ext cx="2329434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KOL Mapping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725162" y="3267151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761738" y="3276295"/>
            <a:ext cx="2329434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Advisory Board 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64324" y="3267151"/>
            <a:ext cx="2402586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00900" y="3276295"/>
            <a:ext cx="2329434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Advisory Board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67712" y="39273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64592" y="3931920"/>
            <a:ext cx="36576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74320" y="3986783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20624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84048" y="4187952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06874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146036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585198" y="3931920"/>
            <a:ext cx="4572" cy="914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286000" y="4181551"/>
            <a:ext cx="9720072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322576" y="4190695"/>
            <a:ext cx="964692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DREAMM-7 Data Collection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25162" y="4436960"/>
            <a:ext cx="4841748" cy="22128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761738" y="4447018"/>
            <a:ext cx="47685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RWE Study Design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67712" y="4841748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4320" y="4901183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27195" y="4937759"/>
            <a:ext cx="146304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952875" y="5120640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6366F1"/>
                </a:solidFill>
                <a:latin typeface="Arial"/>
              </a:defRPr>
            </a:pPr>
            <a:r>
              <a:t>EHA Deadline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66357" y="4937759"/>
            <a:ext cx="146304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92037" y="5120640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6366F1"/>
                </a:solidFill>
                <a:latin typeface="Arial"/>
              </a:defRPr>
            </a:pPr>
            <a:r>
              <a:t>EHA 2027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31627" y="4937759"/>
            <a:ext cx="146304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457307" y="5120640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8B5CF6"/>
                </a:solidFill>
                <a:latin typeface="Arial"/>
              </a:defRPr>
            </a:pPr>
            <a:r>
              <a:t>ASH 2027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Tactical Plan 2027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Momelotinib · Myelofibrosis ·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493776"/>
            <a:ext cx="11859768" cy="6016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7712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7712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76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076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3820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82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6874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6874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6874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28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1992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298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298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6036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6036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603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9090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909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2144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214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5198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5198" y="731519"/>
            <a:ext cx="24391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198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8252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825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1306" y="1042415"/>
            <a:ext cx="81305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130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7712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1945" y="7863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188719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592" y="1188719"/>
            <a:ext cx="36576" cy="59093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12435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Publications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" y="1444751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6874" y="1188719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46036" y="1188719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585198" y="1188719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86000" y="1325137"/>
            <a:ext cx="4028693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22576" y="1334281"/>
            <a:ext cx="3955541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SIMPLIFY OS Paper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64324" y="1325137"/>
            <a:ext cx="4028693" cy="20116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00900" y="1334281"/>
            <a:ext cx="3955541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MOMENTUM Update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7712" y="1775079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64592" y="1779651"/>
            <a:ext cx="36576" cy="59093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1834515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Congress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05397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4048" y="2035683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6874" y="1779651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146036" y="1779651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585198" y="1779651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099054" y="1916068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35630" y="1925212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 Prep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1270" y="1916068"/>
            <a:ext cx="776478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87846" y="1925212"/>
            <a:ext cx="703326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EHA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3486" y="1916068"/>
            <a:ext cx="1589532" cy="20116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40061" y="1925212"/>
            <a:ext cx="151638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67712" y="2366010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64592" y="2370582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64592" y="2370582"/>
            <a:ext cx="36576" cy="59093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" y="2425446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64490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4048" y="2626614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 activities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06874" y="2370582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146036" y="2370582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85198" y="2370582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286000" y="2506999"/>
            <a:ext cx="3215640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322576" y="2516143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Mapping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38216" y="2506999"/>
            <a:ext cx="3215640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574792" y="2516143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Ad Board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90432" y="2506999"/>
            <a:ext cx="3215640" cy="2011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827008" y="2516143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Steering Comm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67712" y="2956941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64592" y="2961513"/>
            <a:ext cx="36576" cy="59093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4320" y="3016377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Evidence Gen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3235833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84048" y="3217545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 activities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06874" y="2961513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146036" y="2961513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585198" y="2961513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286000" y="3097930"/>
            <a:ext cx="9720072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322576" y="3107074"/>
            <a:ext cx="9646920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MF Registry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67712" y="3547872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64592" y="3552444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64592" y="3552444"/>
            <a:ext cx="36576" cy="59093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74320" y="3607308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Medical Education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38267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84048" y="3808476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06874" y="3552444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146036" y="3552444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585198" y="3552444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3099054" y="3688861"/>
            <a:ext cx="321564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135630" y="3698005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CME Program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64324" y="3688861"/>
            <a:ext cx="321564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200900" y="3698005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Webinar Series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67712" y="4138803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64592" y="4143375"/>
            <a:ext cx="36576" cy="5909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74320" y="4198239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Market Access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4417695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84048" y="4399407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706874" y="4143375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146036" y="4143375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9585198" y="4143375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2286000" y="4279792"/>
            <a:ext cx="4841748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322576" y="4288936"/>
            <a:ext cx="4768596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HEOR Dossier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164324" y="4279792"/>
            <a:ext cx="4841748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200900" y="4288936"/>
            <a:ext cx="4768596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HTA Support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67712" y="4729734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64592" y="4734306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64592" y="4734306"/>
            <a:ext cx="36576" cy="59093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4789170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Regulatory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5008626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84048" y="4990338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06874" y="4734306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146036" y="4734306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585198" y="4734306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3912108" y="4870723"/>
            <a:ext cx="4841748" cy="20116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948684" y="4879867"/>
            <a:ext cx="4768596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Label Update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90432" y="4870723"/>
            <a:ext cx="3215640" cy="20116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827008" y="4879867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sNDA Prep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267712" y="5320665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64592" y="5325237"/>
            <a:ext cx="36576" cy="590931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74320" y="5380101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t>Digital/Omnichannel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5599557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4048" y="5581269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 activities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706874" y="5325237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146036" y="5325237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9585198" y="5325237"/>
            <a:ext cx="4572" cy="59093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2286000" y="5461654"/>
            <a:ext cx="321564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322576" y="5470798"/>
            <a:ext cx="3142488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Platform Build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538216" y="5461654"/>
            <a:ext cx="6467856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574792" y="5470798"/>
            <a:ext cx="6394704" cy="1828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Content Delivery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267712" y="5911596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74320" y="597103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666357" y="6007608"/>
            <a:ext cx="146304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392037" y="6190488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6366F1"/>
                </a:solidFill>
                <a:latin typeface="Arial"/>
              </a:defRPr>
            </a:pPr>
            <a:r>
              <a:t>EHA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731627" y="6007608"/>
            <a:ext cx="146304" cy="1463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457307" y="6190488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8B5CF6"/>
                </a:solidFill>
                <a:latin typeface="Arial"/>
              </a:defRPr>
            </a:pPr>
            <a:r>
              <a:t>ASH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Tactical Plan 2027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98% Confidence · Source-verified · medaccur ELISE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69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· RRMM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36576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" y="768096"/>
            <a:ext cx="420624" cy="4206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7863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49808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EVIDENCE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987552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Drive robust clinical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9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3/4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59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94959" y="1545336"/>
            <a:ext cx="152933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4380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RWE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1545336"/>
            <a:ext cx="1223467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8408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Pubs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19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75519" y="1545336"/>
            <a:ext cx="81564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" y="1783080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4592" y="1783080"/>
            <a:ext cx="36576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0896" y="1892807"/>
            <a:ext cx="420624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1911095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874519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KOL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112264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Strategic KOL relationships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59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Tier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15/20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59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94959" y="2670047"/>
            <a:ext cx="152933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54380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4380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Ad Boards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635240" y="2670047"/>
            <a:ext cx="101955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78408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408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19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Symposia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1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19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75519" y="2670047"/>
            <a:ext cx="67290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64592" y="2907791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64592" y="2907791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10896" y="3017520"/>
            <a:ext cx="420624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0896" y="30358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2999232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SCIENTIFIC LEADERSHIP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3236975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Category leadership position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30352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94959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Pubs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5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8/12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59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94959" y="3794760"/>
            <a:ext cx="136620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54380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54380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35240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Congress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635240" y="3794760"/>
            <a:ext cx="81564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78408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78408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875519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Med 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1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19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875519" y="3794760"/>
            <a:ext cx="101955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64592" y="4032504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64592" y="4032504"/>
            <a:ext cx="36576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0896" y="4142232"/>
            <a:ext cx="420624" cy="4206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0896" y="41605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4123944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MARKET ACCESS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361688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Optimal access through HEOR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0352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0352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94959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HTA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495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94959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394959" y="4919472"/>
            <a:ext cx="67290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54380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54380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35240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BIM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35240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4919472"/>
            <a:ext cx="101955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78408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78408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19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Payer Boards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7551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19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875519" y="4919472"/>
            <a:ext cx="136620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Strategic Plan 2027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254" y="109728"/>
            <a:ext cx="749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46304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PIVOTAL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Belantamab Mafodotin (BLENREP) · Relapsed/Refractory Multiple Myeloma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Germany ·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685800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DREAMM-7 · Study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76" y="898375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DREAMM-7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776" y="1321751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Phase 3, </a:t>
            </a:r>
            <a:r>
              <a:rPr dirty="0" err="1"/>
              <a:t>randomised</a:t>
            </a:r>
            <a:r>
              <a:rPr dirty="0"/>
              <a:t>, open-label · 2L+ RRMM · N=494 (1:1)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320" y="17282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 err="1"/>
              <a:t>Belmaf</a:t>
            </a:r>
            <a:r>
              <a:rPr dirty="0"/>
              <a:t> 2.5 mg/kg Q3W + 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9320" y="200253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Bortezomib + Dex (</a:t>
            </a:r>
            <a:r>
              <a:rPr dirty="0" err="1"/>
              <a:t>BorDex</a:t>
            </a:r>
            <a:r>
              <a:rPr dirty="0"/>
              <a:t>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320" y="227685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Progression-Free Survival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9320" y="255117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16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≥1 prior line · PI or </a:t>
            </a:r>
            <a:r>
              <a:rPr dirty="0" err="1"/>
              <a:t>IMiD</a:t>
            </a:r>
            <a:r>
              <a:rPr dirty="0"/>
              <a:t> exp.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320" y="282549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2316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1:1 · Stratified by prior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9320" y="309981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1968" y="3099815"/>
            <a:ext cx="1261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March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648456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4592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2608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6" y="3721608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Notable Adverse Events — Bel-maf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050791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GRADE 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" y="4215383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Keratopathy 43%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439826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Thrombocytopenia 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458114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 err="1"/>
              <a:t>Anaemia</a:t>
            </a:r>
            <a:r>
              <a:rPr dirty="0"/>
              <a:t> 17%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" y="476402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Neutropenia 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7" y="5020056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ANY GRADE — OCULAR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" y="531246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Blurred vision 68%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549534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Dry eye 34%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567822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Infusion reaction 22%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0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26080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54096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63824" y="6858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Efficacy Outcomes — Bel-maf vs BorDex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40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54096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55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mPFS — Bel-maf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36.6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4201" y="1244271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55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95% CI: 24.0–NR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114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1496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29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mPFS — BorDex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29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1600" y="1244271"/>
            <a:ext cx="39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029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95% CI: 11.1–17.5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540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54096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455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ORR — Bel-maf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94700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83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4201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455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 25% · VGPR 36%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14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11496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29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ORR — BorDex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61927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72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1600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29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CR 13% · VGPR 21%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26080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54096" y="2642616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HAZARD RATIO · PRIMARY ENDPOINT (PFS)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2744088"/>
            <a:ext cx="19339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0.41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4920" y="291693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t>Superior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4096" y="3300984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95% CI: 0.31–0.53 · p &lt; 0.001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54096" y="3538727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35806" y="3538727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59% reduction in risk of progression or death vs </a:t>
            </a:r>
            <a:r>
              <a:rPr dirty="0" err="1"/>
              <a:t>BorDex</a:t>
            </a:r>
            <a:r>
              <a:rPr dirty="0"/>
              <a:t>. Clinically meaningful PFS benefit in 2L+ RRMM, supporting regulatory and HTA positioning.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4096" y="4153960"/>
            <a:ext cx="4041648" cy="15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OVERALL SURVIVAL (SECONDARY)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4096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mOS</a:t>
            </a:r>
            <a:r>
              <a:rPr dirty="0"/>
              <a:t> Bel-</a:t>
            </a:r>
            <a:r>
              <a:rPr dirty="0" err="1"/>
              <a:t>maf</a:t>
            </a:r>
            <a:endParaRPr dirty="0"/>
          </a:p>
        </p:txBody>
      </p:sp>
      <p:sp>
        <p:nvSpPr>
          <p:cNvPr id="92" name="TextBox 91"/>
          <p:cNvSpPr txBox="1"/>
          <p:nvPr/>
        </p:nvSpPr>
        <p:spPr>
          <a:xfrm>
            <a:off x="3054096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1312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mOS BorDex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1312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48528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HR (OS)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48528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0.77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5038344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54096" y="5129784"/>
            <a:ext cx="40416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ADDITIONAL ENDPOINTS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54096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2y OS Bel-maf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54096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81%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1312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 Rate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1312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66.5%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48528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DOR Median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48528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33488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33488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61504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71231" y="685800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mPFS Comparison — Bel-maf vs BorDex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24927" y="3575303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90688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24927" y="2976589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0688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24927" y="2377875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0688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424927" y="1779161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90688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24927" y="1180446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90688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90688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90688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87768" y="935589"/>
            <a:ext cx="8458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mPFS</a:t>
            </a:r>
            <a:r>
              <a:rPr dirty="0"/>
              <a:t> (</a:t>
            </a:r>
            <a:r>
              <a:rPr dirty="0" err="1"/>
              <a:t>mo</a:t>
            </a:r>
            <a:r>
              <a:rPr dirty="0"/>
              <a:t>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15883" y="1438873"/>
            <a:ext cx="1280160" cy="2191294"/>
          </a:xfrm>
          <a:prstGeom prst="rect">
            <a:avLst/>
          </a:prstGeom>
          <a:gradFill>
            <a:gsLst>
              <a:gs pos="0">
                <a:srgbClr val="7030A0"/>
              </a:gs>
              <a:gs pos="61000">
                <a:srgbClr val="7030A0">
                  <a:lumMod val="76000"/>
                  <a:lumOff val="24000"/>
                </a:srgbClr>
              </a:gs>
              <a:gs pos="87000">
                <a:srgbClr val="8068DA"/>
              </a:gs>
              <a:gs pos="100000">
                <a:srgbClr val="9469CD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59197" y="3381104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36.6 </a:t>
            </a:r>
            <a:r>
              <a:rPr dirty="0" err="1">
                <a:solidFill>
                  <a:schemeClr val="bg1"/>
                </a:solidFill>
              </a:rPr>
              <a:t>mo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1244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Bel-maf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4684" y="2827890"/>
            <a:ext cx="1280160" cy="80227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61000">
                <a:schemeClr val="bg1">
                  <a:lumMod val="75000"/>
                </a:schemeClr>
              </a:gs>
              <a:gs pos="87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71613" y="3394750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13.4 </a:t>
            </a:r>
            <a:r>
              <a:rPr dirty="0" err="1">
                <a:solidFill>
                  <a:schemeClr val="bg1"/>
                </a:solidFill>
              </a:rPr>
              <a:t>mo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99532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BorDex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0688" y="3904487"/>
            <a:ext cx="3959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Cross-trial — not head-to-head · Interpret with caution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33488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333488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33488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61504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71231" y="4270248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Overall Response Rate Comparison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73567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Bel-maf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1804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BorDex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33488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CR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33489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VGPR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3489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t>PR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Dimopoulos MA et al. NEJM 2024 · NCT04246047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97% Confidence · Source-verified · medaccur ELISE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7" y="4818887"/>
            <a:ext cx="403479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973567" y="5129783"/>
            <a:ext cx="581009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973567" y="5440679"/>
            <a:ext cx="355061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99026" y="4768297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04611" y="5081199"/>
            <a:ext cx="649963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36%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6534" y="5394789"/>
            <a:ext cx="6480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22%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61804" y="4818887"/>
            <a:ext cx="209809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65971" y="4773196"/>
            <a:ext cx="4948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861804" y="5129783"/>
            <a:ext cx="338922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786933" y="5084092"/>
            <a:ext cx="544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61804" y="5440679"/>
            <a:ext cx="613288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797425" y="5405621"/>
            <a:ext cx="534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254" y="109728"/>
            <a:ext cx="749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46304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PIVOTAL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Icotrokinra (ICOTYDE) · Moderate-to-Severe Plaque Psoriasis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RCT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FDA Approved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685800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ICONIC-LEAD · Study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76" y="898375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ICONIC-LEAD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776" y="1321751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Phase 3, double-blind · Mod-severe PsO · N=684 (2:1)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320" y="17282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 err="1"/>
              <a:t>Belmaf</a:t>
            </a:r>
            <a:r>
              <a:rPr dirty="0"/>
              <a:t> 2.5 mg/kg Q3W + 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9320" y="200253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Placebo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320" y="227685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IGA 0/1 + PASI 90 at W16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9320" y="255117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16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IGA ≥3 · PASI ≥12 · BSA ≥10%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320" y="282549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2316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2:1 · Stratified by weight/age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9320" y="309981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1968" y="3099815"/>
            <a:ext cx="1261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648456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4592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2608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6" y="3721608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Notable Adverse Events — Icotrokinra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050791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GRADE 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" y="4215383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Infections 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439826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Hepatic events &lt;1%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458114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8" y="476402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7" y="5020056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ANY GRADE — OCULAR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" y="531246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Nasopharyngitis 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549534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URTI 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567822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Headache 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0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26080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54096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63824" y="6858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Efficacy — Icotrokinra vs Placebo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40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54096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55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IGA 0/1 — Drug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4201" y="1244271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55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vs 8% PBO (p&lt;0.001)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114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1496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29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IGA 0/1 — PBO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29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1600" y="1244271"/>
            <a:ext cx="39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029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Placebo arm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540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54096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455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PASI 90 — Drug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55366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4201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455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4% PBO (p&lt;0.001)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14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11496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29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PASI 90 — PBO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2597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1600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29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Placebo arm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26080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54096" y="2642616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TREATMENT DIFFERENCE · IGA 0/1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2744088"/>
            <a:ext cx="19339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Δ 57%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4920" y="291693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t>Superior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4096" y="3300984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95% CI: 50–62 · p &lt; 0.001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54096" y="3538727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35806" y="3538727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Both co-primary endpoints met. Durable responses through W52.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4096" y="4153960"/>
            <a:ext cx="4041648" cy="15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DURABILITY (WEEK 52)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4096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PASI 75 W52</a:t>
            </a:r>
            <a:endParaRPr dirty="0"/>
          </a:p>
        </p:txBody>
      </p:sp>
      <p:sp>
        <p:nvSpPr>
          <p:cNvPr id="92" name="TextBox 91"/>
          <p:cNvSpPr txBox="1"/>
          <p:nvPr/>
        </p:nvSpPr>
        <p:spPr>
          <a:xfrm>
            <a:off x="3054096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1312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PASI 90 W52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1312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48528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IGA 0/1 W52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48528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82%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5038344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54096" y="5129784"/>
            <a:ext cx="40416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ADDITIONAL ENDPOINTS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54096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PASI 100 W16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54096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27%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1312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IGA 0 W16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1312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33%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48528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PASI 75 W16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48528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33488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33488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61504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71231" y="685800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IGA 0/1 at Week 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24927" y="3575303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90688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24927" y="2976589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0688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24927" y="2377875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0688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424927" y="1779161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90688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24927" y="1180446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90688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90688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90688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87768" y="935589"/>
            <a:ext cx="8458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IGA 0/1 (%)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15883" y="1587055"/>
            <a:ext cx="1280160" cy="2043112"/>
          </a:xfrm>
          <a:prstGeom prst="rect">
            <a:avLst/>
          </a:prstGeom>
          <a:gradFill>
            <a:gsLst>
              <a:gs pos="0">
                <a:srgbClr val="7030A0"/>
              </a:gs>
              <a:gs pos="61000">
                <a:srgbClr val="7030A0">
                  <a:lumMod val="76000"/>
                  <a:lumOff val="24000"/>
                </a:srgbClr>
              </a:gs>
              <a:gs pos="87000">
                <a:srgbClr val="8068DA"/>
              </a:gs>
              <a:gs pos="100000">
                <a:srgbClr val="9469CD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59197" y="1294447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65%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244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Icotrokinra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4684" y="3378708"/>
            <a:ext cx="1280160" cy="25146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61000">
                <a:schemeClr val="bg1">
                  <a:lumMod val="75000"/>
                </a:schemeClr>
              </a:gs>
              <a:gs pos="87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71613" y="3086100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8%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532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Placebo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0688" y="3904487"/>
            <a:ext cx="3959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Randomised, double-blind, placebo-controlled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33488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333488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33488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61504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71231" y="4270248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PASI Response Rates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73567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Icotrokinra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1804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Placebo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33488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PASI 75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33489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PASI 90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3489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t>PASI 100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Bissonnette R et al. 2025 · NCT06095115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96% Confidence · Source-verified · medaccur ELISE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7" y="4818887"/>
            <a:ext cx="1258141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973567" y="5129783"/>
            <a:ext cx="806500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973567" y="5440679"/>
            <a:ext cx="435510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99026" y="4768297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78%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04611" y="5081199"/>
            <a:ext cx="61995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6534" y="5394789"/>
            <a:ext cx="6180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27%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61804" y="4818887"/>
            <a:ext cx="17743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65971" y="4773196"/>
            <a:ext cx="5657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861804" y="5129783"/>
            <a:ext cx="6452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786933" y="5084092"/>
            <a:ext cx="5447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61804" y="5440679"/>
            <a:ext cx="36576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797425" y="5405621"/>
            <a:ext cx="534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254" y="109728"/>
            <a:ext cx="749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46304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PIVOTAL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Momelotinib (OJJAARA) · Myelofibrosis (JAKi-naïve)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Phase 3 ·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N=432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612648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612648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877824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7132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685800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SIMPLIFY-1 · Study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776" y="898375"/>
            <a:ext cx="2395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sz="2400" dirty="0">
                <a:gradFill flip="none" rotWithShape="1">
                  <a:gsLst>
                    <a:gs pos="0">
                      <a:schemeClr val="accent4">
                        <a:lumMod val="50000"/>
                        <a:lumOff val="5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lin ang="2700000" scaled="1"/>
                  <a:tileRect/>
                </a:gradFill>
              </a:rPr>
              <a:t>SIMPLIFY-1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776" y="1321751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Phase 3, double-blind · JAKi-naïve MF · N=432 (1:1)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16916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320" y="172821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Experimental 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1714761"/>
            <a:ext cx="17245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 err="1"/>
              <a:t>Belmaf</a:t>
            </a:r>
            <a:r>
              <a:rPr dirty="0"/>
              <a:t> 2.5 mg/kg Q3W + 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1965960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9320" y="200253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Control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" y="2002536"/>
            <a:ext cx="18800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Ruxolitinib 20 mg BID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" y="224027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320" y="2276856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bg1">
                    <a:lumMod val="50000"/>
                  </a:schemeClr>
                </a:solidFill>
              </a:rPr>
              <a:t>Primary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2276856"/>
            <a:ext cx="1724576" cy="22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≥35% SVR at Week 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251459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9320" y="255117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Key eligibility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16" y="2551174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High/Int-2 or sympt. Int-1 MF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" y="278891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320" y="282549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Randomisation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2316" y="2825495"/>
            <a:ext cx="18115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1:1 · Stratified by risk/plt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3063239"/>
            <a:ext cx="239572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9320" y="3099815"/>
            <a:ext cx="10058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</a:rPr>
              <a:t>Data cut-off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1968" y="3099815"/>
            <a:ext cx="1261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2017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648456"/>
            <a:ext cx="2651760" cy="2798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3648456"/>
            <a:ext cx="265176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4592" y="3913632"/>
            <a:ext cx="265176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2608" y="3749040"/>
            <a:ext cx="64008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6" y="3721608"/>
            <a:ext cx="2194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Notable Adverse Events — MMB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050791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GRADE 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" y="4215383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Thrombocytopenia 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" y="439826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/>
              <a:t>Anaemia 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458114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r>
              <a:rPr dirty="0" err="1"/>
              <a:t>Infections 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" y="4764024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B91C1C"/>
                </a:solidFill>
                <a:latin typeface="Arial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7" y="5020056"/>
            <a:ext cx="14280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ANY GRADE — OCULAR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" y="531246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Diarrhoea 24%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549534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Neuropathy 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5678227"/>
            <a:ext cx="2395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C2410C"/>
                </a:solidFill>
                <a:latin typeface="Arial"/>
              </a:defRPr>
            </a:pPr>
            <a:r>
              <a:rPr dirty="0"/>
              <a:t>Dizziness 14%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6126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26080" y="612648"/>
            <a:ext cx="4297680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26080" y="877824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54096" y="7132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63824" y="6858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Efficacy — MMB vs RUX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40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54096" y="996695"/>
            <a:ext cx="27432" cy="6309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455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SVR24 — MMB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455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26.5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4201" y="1244271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55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Noninferior (p=0.011)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11496" y="996695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1496" y="996695"/>
            <a:ext cx="27432" cy="6309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02936" y="1051560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SVR24 — RUX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2936" y="1130415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t>29.0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1600" y="1244271"/>
            <a:ext cx="39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02936" y="1463039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Comparator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540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54096" y="1700784"/>
            <a:ext cx="27432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1455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TSS50 — MMB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75030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28.4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4201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455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 noninferior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11496" y="1700784"/>
            <a:ext cx="1984248" cy="630936"/>
          </a:xfrm>
          <a:prstGeom prst="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11496" y="1700784"/>
            <a:ext cx="27432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02936" y="1755648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TSS50 — RUX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2597" y="1834504"/>
            <a:ext cx="9921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42.2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11600" y="1889368"/>
            <a:ext cx="274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  <a:latin typeface="Arial"/>
              </a:defRPr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02936" y="2167127"/>
            <a:ext cx="18379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Comparator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2551176"/>
            <a:ext cx="4297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926080" y="2551176"/>
            <a:ext cx="4297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54096" y="2642616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PRIMARY ENDPOINT · SVR24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2744088"/>
            <a:ext cx="19339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NI met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74920" y="291693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92400E"/>
                </a:solidFill>
                <a:latin typeface="Arial"/>
              </a:defRPr>
            </a:pPr>
            <a:r>
              <a:t>Noninferior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4096" y="3300984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26.5% vs 29.0% · p=0.011 (NI)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54096" y="3538727"/>
            <a:ext cx="4041648" cy="512063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35806" y="3538727"/>
            <a:ext cx="4059937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Noninferior for spleen. NOT for symptoms. TI significantly better with MMB.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54096" y="4153960"/>
            <a:ext cx="4041648" cy="15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dirty="0"/>
              <a:t>OVERALL SURVIVAL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4096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2y OS MMB</a:t>
            </a:r>
            <a:endParaRPr dirty="0"/>
          </a:p>
        </p:txBody>
      </p:sp>
      <p:sp>
        <p:nvSpPr>
          <p:cNvPr id="92" name="TextBox 91"/>
          <p:cNvSpPr txBox="1"/>
          <p:nvPr/>
        </p:nvSpPr>
        <p:spPr>
          <a:xfrm>
            <a:off x="3054096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NR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01312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2y OS RUX→MMB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1312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48528" y="433199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HR (OS)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48528" y="4479672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1.02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5038344"/>
            <a:ext cx="4297680" cy="1408175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54096" y="5129784"/>
            <a:ext cx="40416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ADDITIONAL ENDPOINTS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54096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 Rate MMB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54096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rPr dirty="0"/>
              <a:t>66.5%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01312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TI Rate RUX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01312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49.3%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48528" y="5312664"/>
            <a:ext cx="129235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2y LFS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48528" y="5519336"/>
            <a:ext cx="1292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75569"/>
                </a:solidFill>
                <a:latin typeface="Arial"/>
              </a:defRPr>
            </a:pPr>
            <a:r>
              <a:t>NR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612648"/>
            <a:ext cx="46908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333488" y="612648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33488" y="877824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461504" y="713232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71231" y="685800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SVR24 Comparison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24927" y="3575303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90688" y="3630168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424927" y="2976589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90688" y="3031453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24927" y="2377875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90688" y="2432739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424927" y="1779161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90688" y="1834025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424927" y="1180446"/>
            <a:ext cx="31089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90688" y="1235310"/>
            <a:ext cx="3959352" cy="4572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790688" y="3630168"/>
            <a:ext cx="3959352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790688" y="1115568"/>
            <a:ext cx="9144" cy="2514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287768" y="935589"/>
            <a:ext cx="8458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SVR24 (%)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15883" y="1964245"/>
            <a:ext cx="1280160" cy="1665922"/>
          </a:xfrm>
          <a:prstGeom prst="rect">
            <a:avLst/>
          </a:prstGeom>
          <a:gradFill>
            <a:gsLst>
              <a:gs pos="0">
                <a:srgbClr val="7030A0"/>
              </a:gs>
              <a:gs pos="61000">
                <a:srgbClr val="7030A0">
                  <a:lumMod val="76000"/>
                  <a:lumOff val="24000"/>
                </a:srgbClr>
              </a:gs>
              <a:gs pos="87000">
                <a:srgbClr val="8068DA"/>
              </a:gs>
              <a:gs pos="100000">
                <a:srgbClr val="9469CD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59197" y="1671637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26.5%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244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MMB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4684" y="1807083"/>
            <a:ext cx="1280160" cy="1823085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61000">
                <a:schemeClr val="bg1">
                  <a:lumMod val="75000"/>
                </a:schemeClr>
              </a:gs>
              <a:gs pos="87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71613" y="1514475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94A3B8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29.0%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53244" y="3685031"/>
            <a:ext cx="1463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RUX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0688" y="3904487"/>
            <a:ext cx="3959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Active-controlled, non-inferiority design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33488" y="4197096"/>
            <a:ext cx="4690872" cy="2249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333488" y="4197096"/>
            <a:ext cx="469087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33488" y="4462272"/>
            <a:ext cx="46908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61504" y="42976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571231" y="4270248"/>
            <a:ext cx="4233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t>Key Response Rates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73567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MMB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61804" y="4599431"/>
            <a:ext cx="16139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94A3B8"/>
                </a:solidFill>
                <a:latin typeface="Arial"/>
              </a:defRPr>
            </a:pPr>
            <a:r>
              <a:t>RUX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33488" y="4800599"/>
            <a:ext cx="5852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SVR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33489" y="5111494"/>
            <a:ext cx="640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rPr dirty="0"/>
              <a:t>TSS50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3489" y="5422390"/>
            <a:ext cx="5852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475569"/>
                </a:solidFill>
                <a:latin typeface="Arial"/>
              </a:defRPr>
            </a:pPr>
            <a:r>
              <a:t>TI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Mesa RA et al. JCO 2017 · NCT01969838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98% Confidence · Source-verified · medaccur ELISE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7" y="4818887"/>
            <a:ext cx="42744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7973567" y="5129783"/>
            <a:ext cx="458092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7973567" y="5440679"/>
            <a:ext cx="1072646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99026" y="4768297"/>
            <a:ext cx="771905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26.5%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04612" y="5081199"/>
            <a:ext cx="782188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28.4%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06534" y="5394789"/>
            <a:ext cx="7802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66.5%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61804" y="4818887"/>
            <a:ext cx="46777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65971" y="4773196"/>
            <a:ext cx="6857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861804" y="5129783"/>
            <a:ext cx="680686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786932" y="5084092"/>
            <a:ext cx="6647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42.2%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861804" y="5440679"/>
            <a:ext cx="795209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9797425" y="5405621"/>
            <a:ext cx="8595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49.3%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Microsoft Office PowerPoint</Application>
  <PresentationFormat>Custom</PresentationFormat>
  <Paragraphs>751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4</cp:revision>
  <dcterms:created xsi:type="dcterms:W3CDTF">2013-01-27T09:14:16Z</dcterms:created>
  <dcterms:modified xsi:type="dcterms:W3CDTF">2026-04-01T10:22:36Z</dcterms:modified>
  <cp:category/>
</cp:coreProperties>
</file>