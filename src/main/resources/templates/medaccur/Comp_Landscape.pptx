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F17B-EBD0-CD6E-B9A8-CD240096D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0C027-C364-0EAE-56C9-251442E1B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A0648-DEC2-2EF1-2707-68524C1C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41953-991B-A8B2-1F1D-F33631CE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6AA7D-DF28-F48A-1964-5273779F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42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5818-C8F3-1AEB-B13B-5980844F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80748-3261-A7E5-82F8-3DE4869BD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46991-5F24-CF87-EB75-7852796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C3537-CC76-8C88-9C7B-95C2CC61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4FE23-A0F9-8B28-BAC7-BAB5354BD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742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5191-D183-6278-763E-17D9F97B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E4639-4966-59D5-006E-CE66DAAB0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2FE52-62BE-83ED-7C9A-FCD9AD75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A7AFE-5339-272A-EA4C-CA0D66E5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AD0D0-CC4A-CE82-3157-7AD6E5B3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22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80901-342A-6669-7393-78A923760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80AC4-9AB1-26B2-293A-01AAA3B7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68934-1711-EF5F-180A-114F1CDCC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17087-0AA9-DCC9-0FFB-8BFCA33D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95834-C583-DC04-8DD8-3338CF2F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E5516-4356-3A1C-E206-8257DF1EC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802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BFCE-5BC0-67D9-B80F-AA0A58C1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0C308-417A-8B16-2590-54913ABB2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AC9AFA-2CFF-E11E-A36C-8295B0BAB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5D2E8-0438-0F11-FE4C-1E8FC10B5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E7FB9-5567-1D53-FDFA-1C8D556EF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24C40B-778A-B9EC-3ADA-376032FA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B6F445-0BAA-FA10-4452-7B8CDF6A9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AC9CB-A9D2-E7C6-FA45-D11ED3AA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3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F719-B6CD-3BA0-5E37-0A3265629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AA85-2C36-7688-494E-57D82AC8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AFC01-300E-E142-57EC-A1562D145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6B1B2-FB38-81CB-2106-60B9622D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755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2AF8C-FC81-001C-A7E1-143F7B21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73D27-17B2-6B5A-888B-9BDE0D63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BAF0C-1795-318B-2403-2D116092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6771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8FA5-DE99-F9C0-4FEE-FB070982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5C81-782A-1E45-031A-CD72FD962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B1995-B770-F103-590A-A26C81A2C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2F894-4B0C-B589-986C-EC8D9A81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BC4B1-0B52-31BC-634B-D90B5B1D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CDA01-6C63-1F8B-99B3-9B352C268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26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27C2-13E7-4A3E-CDAC-7EEFAF703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1E2CC-6728-01E0-D639-9B6B1C2F9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69BF4-54A3-0AE0-9500-3DF74430C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DD3B-FD86-0FD8-DB3E-2AE9E9B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9E382-9C15-6FD9-B856-3B59D0CB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872E2-5F7A-CEE2-592B-5B0930EB0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52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1F96-B441-5CFB-EE7F-920DE1E0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C5B0E-B717-5224-59B6-7A5288C7C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644C6-DF44-1686-1E18-7EFA4E26F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28AC7-2FA4-CB96-1532-102AD47B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6490D-28D8-252E-B8A5-02E7321F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96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CE313D-AB0D-E22E-AB5E-2DF1FA63C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4AD41-A98B-5F6B-264A-8EF50F064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9F566-7FF5-C036-514C-A1C40A5BF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079D4-7DC0-003A-8D56-B71F20C8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BE416-0B8F-A4CE-D54A-F8C839AC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6778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B6CF6-1CA4-A7B0-BEC6-109548C8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2A747-F6EA-2D77-4F50-8D69E975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C6214-D5CE-5BBB-C75F-FD8021019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DE5BE-AC76-4A27-8E0C-0DE96A684693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CE909-E47E-645B-7E36-7EEDDBFB1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F8EF3-F845-505B-BE7A-870D57DDD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2FAA10-DBE8-4A99-BB0D-9F2A6E5F88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339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78856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/>
              <a:t>COMPETITIVE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8388" y="109728"/>
            <a:ext cx="1097280" cy="274320"/>
          </a:xfrm>
          <a:prstGeom prst="rect">
            <a:avLst/>
          </a:prstGeom>
          <a:solidFill>
            <a:srgbClr val="30276D"/>
          </a:solidFill>
          <a:ln w="12700">
            <a:solidFill>
              <a:srgbClr val="6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8388" y="128016"/>
            <a:ext cx="1097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C4B5FD"/>
                </a:solidFill>
                <a:latin typeface="Arial"/>
              </a:defRPr>
            </a:pPr>
            <a:r>
              <a:rPr sz="800"/>
              <a:t>{{phase_badge}}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7108" y="109728"/>
            <a:ext cx="1188720" cy="274320"/>
          </a:xfrm>
          <a:prstGeom prst="rect">
            <a:avLst/>
          </a:prstGeom>
          <a:solidFill>
            <a:srgbClr val="3D3010"/>
          </a:solidFill>
          <a:ln w="12700">
            <a:solidFill>
              <a:srgbClr val="8B6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7108" y="128016"/>
            <a:ext cx="1188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CD34D"/>
                </a:solidFill>
                <a:latin typeface="Arial"/>
              </a:defRPr>
            </a:pPr>
            <a:r>
              <a:rPr sz="800"/>
              <a:t>{{scope_badge}}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180" y="658368"/>
            <a:ext cx="56692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6180" y="658368"/>
            <a:ext cx="5669280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6180" y="950976"/>
            <a:ext cx="566928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4196" y="789136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3924" y="711855"/>
            <a:ext cx="5212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{{comp_title}}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259" y="5413248"/>
            <a:ext cx="45720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6259" y="1207007"/>
            <a:ext cx="9144" cy="42062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06460" y="5486400"/>
            <a:ext cx="1371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Safety Profile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332" y="2679191"/>
            <a:ext cx="7315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 dirty="0"/>
              <a:t>Efficacy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6259" y="4361689"/>
            <a:ext cx="4572000" cy="274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49261" y="1207007"/>
            <a:ext cx="2743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6259" y="3310128"/>
            <a:ext cx="4572000" cy="274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92261" y="1207007"/>
            <a:ext cx="2743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6259" y="2258569"/>
            <a:ext cx="4572000" cy="274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35261" y="1207007"/>
            <a:ext cx="2743" cy="4206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137979" y="1655063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11131" y="1988820"/>
            <a:ext cx="5486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 dirty="0"/>
              <a:t>{{comp_drug_1}}</a:t>
            </a:r>
            <a:r>
              <a:rPr sz="700" dirty="0" err="1"/>
              <a:t/>
            </a:r>
            <a:endParaRPr sz="700" dirty="0"/>
          </a:p>
        </p:txBody>
      </p:sp>
      <p:sp>
        <p:nvSpPr>
          <p:cNvPr id="31" name="Oval 30"/>
          <p:cNvSpPr/>
          <p:nvPr/>
        </p:nvSpPr>
        <p:spPr>
          <a:xfrm>
            <a:off x="2497900" y="212140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69300" y="1972902"/>
            <a:ext cx="72237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6366F1"/>
                </a:solidFill>
                <a:latin typeface="Arial"/>
              </a:defRPr>
            </a:pPr>
            <a:r>
              <a:rPr sz="700" dirty="0"/>
              <a:t>{{comp_drug_2}}</a:t>
            </a:r>
          </a:p>
        </p:txBody>
      </p:sp>
      <p:sp>
        <p:nvSpPr>
          <p:cNvPr id="33" name="Oval 32"/>
          <p:cNvSpPr/>
          <p:nvPr/>
        </p:nvSpPr>
        <p:spPr>
          <a:xfrm>
            <a:off x="2735644" y="2551175"/>
            <a:ext cx="256032" cy="25603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644203" y="2825495"/>
            <a:ext cx="95097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3B82F6"/>
                </a:solidFill>
                <a:latin typeface="Arial"/>
              </a:defRPr>
            </a:pPr>
            <a:r>
              <a:rPr sz="700" dirty="0" err="1"/>
              <a:t>{{comp_drug_3}}</a:t>
            </a:r>
            <a:endParaRPr sz="700" dirty="0"/>
          </a:p>
        </p:txBody>
      </p:sp>
      <p:sp>
        <p:nvSpPr>
          <p:cNvPr id="35" name="Oval 34"/>
          <p:cNvSpPr/>
          <p:nvPr/>
        </p:nvSpPr>
        <p:spPr>
          <a:xfrm>
            <a:off x="2607628" y="2350008"/>
            <a:ext cx="237744" cy="23774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15400" y="2389328"/>
            <a:ext cx="101498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06B6D4"/>
                </a:solidFill>
                <a:latin typeface="Arial"/>
              </a:defRPr>
            </a:pPr>
            <a:r>
              <a:rPr sz="700" dirty="0" err="1"/>
              <a:t>{{comp_drug_4}}</a:t>
            </a:r>
            <a:endParaRPr sz="700" dirty="0"/>
          </a:p>
        </p:txBody>
      </p:sp>
      <p:sp>
        <p:nvSpPr>
          <p:cNvPr id="37" name="Oval 36"/>
          <p:cNvSpPr/>
          <p:nvPr/>
        </p:nvSpPr>
        <p:spPr>
          <a:xfrm>
            <a:off x="2260156" y="2238451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68715" y="2549348"/>
            <a:ext cx="47548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59E0B"/>
                </a:solidFill>
                <a:latin typeface="Arial"/>
              </a:defRPr>
            </a:pPr>
            <a:r>
              <a:rPr sz="700"/>
              <a:t>{{comp_drug_5}}</a:t>
            </a:r>
          </a:p>
        </p:txBody>
      </p:sp>
      <p:sp>
        <p:nvSpPr>
          <p:cNvPr id="39" name="Oval 38"/>
          <p:cNvSpPr/>
          <p:nvPr/>
        </p:nvSpPr>
        <p:spPr>
          <a:xfrm>
            <a:off x="2927667" y="1883663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36227" y="2231136"/>
            <a:ext cx="6492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10B981"/>
                </a:solidFill>
                <a:latin typeface="Arial"/>
              </a:defRPr>
            </a:pPr>
            <a:r>
              <a:rPr sz="700" dirty="0" err="1"/>
              <a:t>{{comp_drug_6}}</a:t>
            </a:r>
            <a:r>
              <a:rPr sz="700" dirty="0"/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7654" y="5687569"/>
            <a:ext cx="541324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 dirty="0"/>
              <a:t>Bubble size = Relative patient population studied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63476" y="658368"/>
            <a:ext cx="60624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63476" y="658368"/>
            <a:ext cx="6062472" cy="292608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63476" y="950976"/>
            <a:ext cx="6062472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091491" y="789136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01219" y="711855"/>
            <a:ext cx="56052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Head-to-Head Comparison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63476" y="1042415"/>
            <a:ext cx="6062472" cy="274320"/>
          </a:xfrm>
          <a:prstGeom prst="rect">
            <a:avLst/>
          </a:prstGeom>
          <a:solidFill>
            <a:srgbClr val="F0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54915" y="1097280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4748B"/>
                </a:solidFill>
                <a:latin typeface="Arial"/>
              </a:defRPr>
            </a:pPr>
            <a:r>
              <a:rPr sz="800"/>
              <a:t>Parameter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6515" y="1097280"/>
            <a:ext cx="1828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800"/>
              <a:t>{{comp_drug_1}}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5316" y="1097280"/>
            <a:ext cx="26791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94A3B8"/>
                </a:solidFill>
                <a:latin typeface="Arial"/>
              </a:defRPr>
            </a:pPr>
            <a:r>
              <a:rPr sz="800"/>
              <a:t>Competitor Avg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63476" y="1335024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63476" y="1659636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54915" y="13898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Mechanism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6515" y="1389888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{{comp_1_mechanism}}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55316" y="1389888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{{comp_avg_mechanism}}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3476" y="1988819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54915" y="171907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Line of therapy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26515" y="1719072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{{comp_1_line}}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55316" y="1719072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{{comp_avg_line}}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3476" y="1993391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63476" y="2318003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4915" y="204825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ORR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26515" y="2048255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{{comp_1_orr}}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55316" y="2048255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{{comp_avg_orr}}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63476" y="2647188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4915" y="23774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CR Rate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6515" y="2377440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{{comp_1_cr}}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55316" y="2377440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{{comp_avg_cr}}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63476" y="2651760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963476" y="2976372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54915" y="270662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mPFS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26515" y="2706624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{{comp_1_mpfs}}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55316" y="2706624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{{comp_avg_mpfs}}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63476" y="3305556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54915" y="303580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HR (PFS)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6515" y="3035808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{{comp_1_hr}}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55316" y="3035808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{{comp_avg_hr}}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63476" y="3310128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963476" y="3634740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054915" y="336499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Route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26515" y="3364992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{{comp_1_route}}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55316" y="3364992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{{comp_avg_route}}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63476" y="3963924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054915" y="369417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Key AE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26515" y="3694176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{{comp_1_ae}}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55316" y="3694176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{{comp_avg_ae}}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963476" y="3968496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5963476" y="4293108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054915" y="4023359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REMS/RMP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26515" y="4023359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{{comp_1_rems}}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255316" y="4023359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{{comp_avg_rems}}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63476" y="4622292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054915" y="4352543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Convenience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26515" y="4352543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{{comp_1_convenience}}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55316" y="4352543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{{comp_avg_convenience}}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63476" y="4626864"/>
            <a:ext cx="6062472" cy="329184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5963476" y="4951476"/>
            <a:ext cx="6062472" cy="45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054915" y="468172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748B"/>
                </a:solidFill>
                <a:latin typeface="Arial"/>
              </a:defRPr>
            </a:pPr>
            <a:r>
              <a:rPr sz="800"/>
              <a:t>HTA readiness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26515" y="4681727"/>
            <a:ext cx="18288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 i="0">
                <a:solidFill>
                  <a:srgbClr val="0F172A"/>
                </a:solidFill>
                <a:latin typeface="Arial"/>
              </a:defRPr>
            </a:pPr>
            <a:r>
              <a:rPr sz="850"/>
              <a:t>{{comp_1_hta}}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55316" y="4681727"/>
            <a:ext cx="2679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Arial"/>
              </a:defRPr>
            </a:pPr>
            <a:r>
              <a:rPr sz="800"/>
              <a:t>{{comp_avg_hta}}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66180" y="6053327"/>
            <a:ext cx="11859768" cy="47548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66180" y="6053327"/>
            <a:ext cx="36576" cy="4754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30772" y="6108191"/>
            <a:ext cx="17355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8B5CF6"/>
                </a:solidFill>
                <a:latin typeface="Arial"/>
              </a:defRPr>
            </a:pPr>
            <a:r>
              <a:rPr sz="800" dirty="0"/>
              <a:t>KEY DIFFERENTIATOR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0772" y="6272784"/>
            <a:ext cx="115305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475569"/>
                </a:solidFill>
                <a:latin typeface="Arial"/>
              </a:defRPr>
            </a:pPr>
            <a:r>
              <a:rPr sz="1000"/>
              <a:t>{{key_differentiator}}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1</cp:revision>
  <dcterms:created xsi:type="dcterms:W3CDTF">2026-04-01T22:27:51Z</dcterms:created>
  <dcterms:modified xsi:type="dcterms:W3CDTF">2026-04-01T22:28:08Z</dcterms:modified>
</cp:coreProperties>
</file>