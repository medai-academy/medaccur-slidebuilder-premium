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7320" y="109728"/>
            <a:ext cx="1645920" cy="274320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DISEASE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Multiple Myeloma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2608" y="808800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Epidemiology &amp; Burden of Disease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2608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Incidence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298448"/>
            <a:ext cx="1043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~7/100K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per year (EU)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0631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00631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73784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Prevalence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3784" y="1298448"/>
            <a:ext cx="1043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~230K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3784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patients (EU5)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08655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08655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81807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Median 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1807" y="1298448"/>
            <a:ext cx="1043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69 years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1807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at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1847088"/>
            <a:ext cx="362407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EPIDEMIOLOGICAL FACTS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204825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2048256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Second most common haematological malignancy worldwide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235915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2359152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~35% of patients reach 2L+ therapy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267004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2670048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Median OS in RRMM: 12–18 months with current SoC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" y="298094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2980944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5-year survival rate: ~55% (all stages)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" y="32918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3291839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Significant unmet need in PI/IMiD double-refractory patients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3602735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3602735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Rising incidence due to ageing population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4423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54423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154423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282439" y="808800"/>
            <a:ext cx="64008" cy="6400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92167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Pathophysiology &amp; Targets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82439" y="1097280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82439" y="1097280"/>
            <a:ext cx="36576" cy="5852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92167" y="1152144"/>
            <a:ext cx="8877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BCMA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2167" y="1316736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B-cell maturation antigen expressed on &gt;95% of MM cells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2167" y="1481328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Primary target for ADCs, BiTEs, CAR-T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82439" y="1755648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82439" y="1755648"/>
            <a:ext cx="36576" cy="5852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92167" y="1810512"/>
            <a:ext cx="887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GPRC5D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92167" y="1975104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Orphan receptor highly expressed on MM cells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2167" y="2139696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Emerging target for bispecifics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82439" y="2414015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82439" y="2414015"/>
            <a:ext cx="36576" cy="5852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92167" y="2468879"/>
            <a:ext cx="887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FcRH5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92167" y="2633472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Fc receptor-like protein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92167" y="2798063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Target for cevostamab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82439" y="3072384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282439" y="3072384"/>
            <a:ext cx="36576" cy="5852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92167" y="3127248"/>
            <a:ext cx="792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rPr dirty="0"/>
              <a:t>CD38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92167" y="3291840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Surface glycoprotein on MM cells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92167" y="3456432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Daratumumab, isatuximab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2439" y="3822191"/>
            <a:ext cx="362407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DISEASE BIOLOGY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82439" y="40050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0456" y="4005072"/>
            <a:ext cx="3496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Clonal plasma cell proliferation in bone marrow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82439" y="42611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10456" y="4261104"/>
            <a:ext cx="3496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Monoclonal protein (M-protein) production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82439" y="4517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10456" y="4517136"/>
            <a:ext cx="3496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Bone destruction, renal impairment, immunodeficiency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82439" y="4773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10456" y="4773168"/>
            <a:ext cx="3496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Genomic heterogeneity drives treatment resistance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44255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144255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144255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272271" y="808800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81999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Current Treatment Landscape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72271" y="1097280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8345423" y="117043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01767" y="1188720"/>
            <a:ext cx="34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74607" y="1170432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10B981"/>
                </a:solidFill>
                <a:latin typeface="Arial"/>
              </a:defRPr>
            </a:pPr>
            <a:r>
              <a:t>Frontline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74607" y="1371600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VRd → ASCT → Len maintenance</a:t>
            </a:r>
            <a:br/>
            <a:r>
              <a:t>Dara-VRd for transplant-eligible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73439" y="1865376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272271" y="2029967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345423" y="210312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301767" y="2121408"/>
            <a:ext cx="34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74607" y="2103120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Second-line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74607" y="2304287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Dara-containing regimens</a:t>
            </a:r>
            <a:br/>
            <a:r>
              <a:t>Carfilzomib + Dex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73439" y="2798063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272271" y="2962656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8345423" y="3035808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72271" y="3054096"/>
            <a:ext cx="402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3L+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74607" y="3035808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Later lines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74607" y="3236975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BCMA-targeting (ADC, BiTE, CAR-T)</a:t>
            </a:r>
            <a:br/>
            <a:r>
              <a:t>Anti-CD38 re-challenge</a:t>
            </a:r>
            <a:br/>
            <a:r>
              <a:t>Selinexor combinations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473439" y="3730752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272271" y="3895344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345423" y="3968496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272270" y="3937623"/>
            <a:ext cx="414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RRMM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74607" y="3968496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Refractory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74607" y="4169663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Triple-class exposed: limited options</a:t>
            </a:r>
            <a:br/>
            <a:r>
              <a:t>Bel-maf targets this unmet need</a:t>
            </a:r>
            <a:br/>
            <a:r>
              <a:t>Bispecifics emerging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272271" y="4919470"/>
            <a:ext cx="3624071" cy="655419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272270" y="4919471"/>
            <a:ext cx="45719" cy="65541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81999" y="4974335"/>
            <a:ext cx="35143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EF4444"/>
                </a:solidFill>
                <a:latin typeface="Arial"/>
              </a:defRPr>
            </a:pPr>
            <a:r>
              <a:t>UNMET NEED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81999" y="5120639"/>
            <a:ext cx="3514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No RCT-based therapy for PI/</a:t>
            </a:r>
            <a:r>
              <a:rPr dirty="0" err="1"/>
              <a:t>IMiD</a:t>
            </a:r>
            <a:r>
              <a:rPr dirty="0"/>
              <a:t> double-refractory patients until DREAMM-7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Rajkumar SV. Blood 2020 · NCCN Guidelines v4.2026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7320" y="109728"/>
            <a:ext cx="1645920" cy="274320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SCIENTIFIC NARRATIVE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658368"/>
            <a:ext cx="11859768" cy="50292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124712"/>
            <a:ext cx="1185976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" y="713232"/>
            <a:ext cx="11201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CORE SCIENTIFIC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877824"/>
            <a:ext cx="11201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DREAMM-7 establishes belantamab mafodotin as the first BCMA ADC with Phase 3 superiority data, redefining the treatment paradigm in 2L+ RRMM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1426464"/>
            <a:ext cx="2882646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1481328"/>
            <a:ext cx="26997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PHASE 3 EFFICACY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627632"/>
            <a:ext cx="26997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DREAMM-7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901952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1901952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mPFS: 36.6 vs 13.4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157984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157984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HR 0.41 (p&lt;0.001)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414016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2414016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ORR: 83% vs 72%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670048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2670048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CR: 25% vs 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26080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2926080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≥VGPR: 61% vs 34%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310128"/>
            <a:ext cx="266319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Dimopoulos NEJM 2024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6966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56966" y="1426464"/>
            <a:ext cx="2882646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48406" y="1481328"/>
            <a:ext cx="26997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SAFETY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8406" y="1627632"/>
            <a:ext cx="26997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Manageable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6694" y="1901952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6422" y="1901952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Keratopathy 43% (Grade≥3)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6694" y="2157984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76422" y="2157984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Thrombocytopenia 29%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6694" y="2414016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6422" y="2414016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Infusion reactions 22%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6694" y="2670048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6422" y="2670048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Ocular monitoring protocol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6694" y="2926080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6422" y="2926080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Dose modification effective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66694" y="3310128"/>
            <a:ext cx="266319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Ocular safety sub-analysis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9340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9340" y="1426464"/>
            <a:ext cx="2882646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40780" y="1481328"/>
            <a:ext cx="26997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SUBGROUP BENEFIT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0780" y="1627632"/>
            <a:ext cx="26997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Consistent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9068" y="1901952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8796" y="1901952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All age groups benefit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9068" y="2157984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8796" y="2157984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Prior lines: consistent HR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59068" y="2414016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8796" y="2414016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PI-refractory: HR 0.40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59068" y="2670048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8796" y="2670048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IMiD-refractory: HR 0.42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59068" y="2926080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3B82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8796" y="2926080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p-interaction &gt;0.05 all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59068" y="3310128"/>
            <a:ext cx="266319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Forest plot analysis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1714" y="1426464"/>
            <a:ext cx="288264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141714" y="1426464"/>
            <a:ext cx="2882646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33154" y="1481328"/>
            <a:ext cx="26997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PATIENT OUTCOMES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3154" y="1627632"/>
            <a:ext cx="26997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Meaningful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51442" y="1901952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06B6D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1170" y="1901952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Deep responses (CR 25%)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51442" y="2157984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06B6D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1170" y="2157984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Durable responses (NR)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51442" y="2414016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06B6D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61170" y="2414016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Transfusion independence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51442" y="2670048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06B6D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61170" y="2670048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QoL maintained on treatment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51442" y="2926080"/>
            <a:ext cx="91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06B6D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61170" y="2926080"/>
            <a:ext cx="25534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Outpatient administration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1442" y="3310128"/>
            <a:ext cx="266319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PRO sub-study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64592" y="3657600"/>
            <a:ext cx="58750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64592" y="3657600"/>
            <a:ext cx="587502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64592" y="3950208"/>
            <a:ext cx="58750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92608" y="3817863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02336" y="3730752"/>
            <a:ext cx="55092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Clinical Practice Implications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404164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912" y="4041648"/>
            <a:ext cx="54726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First Phase 3 RCT to demonstrate superiority of a BCMA agent over SoC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8" y="440740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8912" y="4407408"/>
            <a:ext cx="54726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Supports 2L+ positioning — earlier than current BCMA competitors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2608" y="477316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" y="4773168"/>
            <a:ext cx="54726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Outpatient IV Q3W — no step-up dosing, no CRS monitoring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2608" y="513892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912" y="5138928"/>
            <a:ext cx="54726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Proactive ocular management key to maximising treatment duration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49340" y="3657600"/>
            <a:ext cx="58750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49340" y="3657600"/>
            <a:ext cx="587502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149340" y="3950208"/>
            <a:ext cx="58750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6277356" y="3817863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387084" y="3730752"/>
            <a:ext cx="55092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Remaining Scientific Questions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77356" y="404164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23660" y="4041648"/>
            <a:ext cx="54726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Mature OS data needed to confirm survival benefit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77356" y="440740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23660" y="4407408"/>
            <a:ext cx="54726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Optimal sequencing with bispecifics and CAR-T — head-to-head data lacking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77356" y="477316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23660" y="4773168"/>
            <a:ext cx="54726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Long-term ocular safety with extended treatment duration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77356" y="513892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23660" y="5138928"/>
            <a:ext cx="54726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Biomarker-driven patient selection to maximise benefit-risk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Dimopoulos MA et al. NEJM 2024 · NCCN Guidelines v4.2026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Custom</PresentationFormat>
  <Paragraphs>144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2026-03-31T22:30:10Z</dcterms:modified>
  <cp:category/>
</cp:coreProperties>
</file>