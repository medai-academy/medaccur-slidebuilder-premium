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MARKET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Belantamab Mafodotin (BLENREP) · RRMM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Phase 3 · RCT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Germany ·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Market Access: Belantamab Mafodotin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Germany · Reimbursement &amp; HTA Status 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EMA EPAR 2024 · FDA Label 2024 · G-BA AMNOG · IQWiG · GSK Press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97% Confidence · medaccur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188720"/>
            <a:ext cx="3666744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EMA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EMA: ACTIVE — Conditional MA granted Dec 2024 for BVd combination in RRMM after ≥1 prior therapy. Based on DREAMM-7. Note: Monotherapy indication withdrawn voluntarily Aug 2022 after DREAMM-3.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1104" y="1188720"/>
            <a:ext cx="3666744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98264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Calibri"/>
              </a:defRPr>
            </a:pPr>
            <a:r>
              <a:t>FDA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FDA: ACTIVE — Accelerated approval reinstated Jan 2024 for BVd in RRMM after ≥1 prior therapy including an anti-CD38. DREAMM-7 served as confirmatory trial. Full approval expected H2 2025.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65008" y="1188720"/>
            <a:ext cx="3666744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8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Calibri"/>
              </a:defRPr>
            </a:pPr>
            <a:r>
              <a:t>{{country}}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BfArM/G-BA: AMNOG dossier submitted Q4 2024. G-BA early benefit assessment pending — decision expected Q2 2025. IQWiG assessment: "erheblicher Zusatznutzen" probable based on HR 0.41 vs BorDex.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017520"/>
            <a:ext cx="11274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1272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REIMBURSEMENT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Combination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HTA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Conditions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Bel-maf + BorDex (BVd)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G-BA: IQWiG assessment Q1 2025, Beschluss expected Q2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Preliminary: ≥1 prior line, PI+IMiD exposed. Ophthalmology monitoring required per SmPC.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Bel-maf + PomDex (BPd)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Not yet submitted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DREAMM-8 data to support future submission — EMA Type II variation expected H2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Pending EMA label extension for BPd combination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Bel-maf monotherapy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Withdrawn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Voluntarily withdrawn by GSK Aug 2022 — not available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N/A — indication no longer 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Key barriers: Ophthalmology REMS-like monitoring (corneal exams Q4W), certified treatment center requirement, G-BA Zusatznutzen decision pending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0B981"/>
                </a:solidFill>
                <a:latin typeface="Calibri"/>
              </a:defRPr>
            </a:pPr>
            <a:r>
              <a:t>Expected 2027: G-BA final decision, BPd label extension, potential removal of center restriction after RWE safety data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4DE9CF-A15E-A5DD-99EA-5EF8375106CD}"/>
              </a:ext>
            </a:extLst>
          </p:cNvPr>
          <p:cNvSpPr txBox="1"/>
          <p:nvPr/>
        </p:nvSpPr>
        <p:spPr>
          <a:xfrm>
            <a:off x="365760" y="109728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495254-2E44-CEDC-61C7-BE7ED9B21DE8}"/>
              </a:ext>
            </a:extLst>
          </p:cNvPr>
          <p:cNvSpPr txBox="1"/>
          <p:nvPr/>
        </p:nvSpPr>
        <p:spPr>
          <a:xfrm>
            <a:off x="698188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2026-04-01T21:21:37Z</dcterms:modified>
  <cp:category/>
</cp:coreProperties>
</file>