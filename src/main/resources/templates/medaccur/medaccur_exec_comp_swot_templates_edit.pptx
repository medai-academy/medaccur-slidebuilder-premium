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658368"/>
            <a:ext cx="11859768" cy="59436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1216152"/>
            <a:ext cx="1185976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" y="7132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KEY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896112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Belantamab mafodotin demonstrates unprecedented PFS benefit in 2L+ RRMM with HR 0.41, establishing a new standard of care for BCMA-targeting therapy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1380744"/>
            <a:ext cx="36576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mPFS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1655064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B5CF6"/>
                </a:solidFill>
                <a:latin typeface="Arial"/>
              </a:defRPr>
            </a:pPr>
            <a:r>
              <a:t>36.6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95% CI: 24.0–NR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13.4 </a:t>
            </a:r>
            <a:r>
              <a:rPr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BorDex</a:t>
            </a:r>
            <a:endParaRPr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56966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56966" y="1380744"/>
            <a:ext cx="36576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84982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ORR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4982" y="1655064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366F1"/>
                </a:solidFill>
                <a:latin typeface="Arial"/>
              </a:defRPr>
            </a:pPr>
            <a:r>
              <a:t>83%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4982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CR 25% · VGPR 36%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4982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vs 72% BorDex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9340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49340" y="1380744"/>
            <a:ext cx="36576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7356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HR (PFS)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7356" y="1655064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B82F6"/>
                </a:solidFill>
                <a:latin typeface="Arial"/>
              </a:defRPr>
            </a:pPr>
            <a:r>
              <a:t>0.41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7356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95% CI: 0.31–0.53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7356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p &lt; 0.001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1714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1714" y="1380744"/>
            <a:ext cx="36576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9730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Safety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9730" y="1655064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Grade ≥3: 43%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9730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Keratopathy most common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9730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Manageable profile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4592" y="2532888"/>
            <a:ext cx="5865876" cy="39136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64592" y="2532888"/>
            <a:ext cx="5865876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4592" y="2825496"/>
            <a:ext cx="586587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1600" y="2683320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1664" y="2606040"/>
            <a:ext cx="5408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Key Findings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29169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16936"/>
            <a:ext cx="54086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DREAMM-7 met its primary endpoint with statistically significant PFS improvement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" y="330098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300984"/>
            <a:ext cx="54086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ORR of 83% with deep responses (CR 25%, ≥VGPR 61%)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368503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685032"/>
            <a:ext cx="54086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Consistent benefit across all pre-specified subgroups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40690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069080"/>
            <a:ext cx="54086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Ocular toxicity remains the key safety consideration requiring proactive management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445312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453128"/>
            <a:ext cx="54086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OS data immature but trending favourably (HR 0.77)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8483" y="2532888"/>
            <a:ext cx="5865876" cy="39136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58483" y="2532888"/>
            <a:ext cx="5865876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58483" y="2825496"/>
            <a:ext cx="586587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86499" y="2673488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96227" y="2606040"/>
            <a:ext cx="5408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Implications &amp; Next Steps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86499" y="300404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77938" y="2898648"/>
            <a:ext cx="13944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Regulatory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7939" y="3064616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EMA submission with DREAMM-7 as pivotal study — target Q2 2027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86499" y="3427424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77938" y="3322024"/>
            <a:ext cx="13944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HTA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7939" y="348799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Budget impact model update with new PFS data for G-BA/NICE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499" y="3821304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77938" y="3715904"/>
            <a:ext cx="16057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100" dirty="0"/>
              <a:t>Publication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7939" y="388187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Primary manuscript (NEJM) + 3 sub-analyses for congress cycle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86499" y="4205352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77938" y="4099952"/>
            <a:ext cx="21680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100" dirty="0"/>
              <a:t>KOL Strategy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77939" y="4265920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Advisory board series with 15 Tier-1 KOLs across EU5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86499" y="458940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77938" y="4484000"/>
            <a:ext cx="21680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100" dirty="0"/>
              <a:t>Field Medical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7939" y="4649968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Updated slide deck + training for MSL team by Q1 2027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NCT04246047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788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658368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58368"/>
            <a:ext cx="566928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950976"/>
            <a:ext cx="56692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78913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711855"/>
            <a:ext cx="5212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Efficacy vs Safety Positioning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" y="5413248"/>
            <a:ext cx="4572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1" y="1207007"/>
            <a:ext cx="9144" cy="42062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04872" y="548640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Safety Profile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" y="2679191"/>
            <a:ext cx="7315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Efficacy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" y="4361688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47672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1" y="3310127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90672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" y="2258568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33672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36391" y="1655063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9543" y="1988819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Bel-</a:t>
            </a:r>
            <a:r>
              <a:rPr dirty="0" err="1"/>
              <a:t>maf</a:t>
            </a:r>
            <a:endParaRPr dirty="0"/>
          </a:p>
        </p:txBody>
      </p:sp>
      <p:sp>
        <p:nvSpPr>
          <p:cNvPr id="31" name="Oval 30"/>
          <p:cNvSpPr/>
          <p:nvPr/>
        </p:nvSpPr>
        <p:spPr>
          <a:xfrm>
            <a:off x="2496312" y="21214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67712" y="1972901"/>
            <a:ext cx="7223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Teclistamab</a:t>
            </a:r>
          </a:p>
        </p:txBody>
      </p:sp>
      <p:sp>
        <p:nvSpPr>
          <p:cNvPr id="33" name="Oval 32"/>
          <p:cNvSpPr/>
          <p:nvPr/>
        </p:nvSpPr>
        <p:spPr>
          <a:xfrm>
            <a:off x="2734056" y="2551175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42615" y="2825494"/>
            <a:ext cx="9509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3B82F6"/>
                </a:solidFill>
                <a:latin typeface="Arial"/>
              </a:defRPr>
            </a:pPr>
            <a:r>
              <a:rPr dirty="0" err="1"/>
              <a:t>Talquetamab</a:t>
            </a:r>
            <a:endParaRPr dirty="0"/>
          </a:p>
        </p:txBody>
      </p:sp>
      <p:sp>
        <p:nvSpPr>
          <p:cNvPr id="35" name="Oval 34"/>
          <p:cNvSpPr/>
          <p:nvPr/>
        </p:nvSpPr>
        <p:spPr>
          <a:xfrm>
            <a:off x="2606040" y="2350008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13812" y="2389327"/>
            <a:ext cx="10149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6B6D4"/>
                </a:solidFill>
                <a:latin typeface="Arial"/>
              </a:defRPr>
            </a:pPr>
            <a:r>
              <a:rPr dirty="0" err="1"/>
              <a:t>Elranatamab</a:t>
            </a:r>
            <a:endParaRPr dirty="0"/>
          </a:p>
        </p:txBody>
      </p:sp>
      <p:sp>
        <p:nvSpPr>
          <p:cNvPr id="37" name="Oval 36"/>
          <p:cNvSpPr/>
          <p:nvPr/>
        </p:nvSpPr>
        <p:spPr>
          <a:xfrm>
            <a:off x="2258568" y="2238451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67127" y="2549347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59E0B"/>
                </a:solidFill>
                <a:latin typeface="Arial"/>
              </a:defRPr>
            </a:pPr>
            <a:r>
              <a:t>Ide-cel</a:t>
            </a:r>
          </a:p>
        </p:txBody>
      </p:sp>
      <p:sp>
        <p:nvSpPr>
          <p:cNvPr id="39" name="Oval 38"/>
          <p:cNvSpPr/>
          <p:nvPr/>
        </p:nvSpPr>
        <p:spPr>
          <a:xfrm>
            <a:off x="2926079" y="1883663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39" y="2231135"/>
            <a:ext cx="6492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0B981"/>
                </a:solidFill>
                <a:latin typeface="Arial"/>
              </a:defRPr>
            </a:pPr>
            <a:r>
              <a:rPr dirty="0" err="1"/>
              <a:t>Cilta</a:t>
            </a:r>
            <a:r>
              <a:rPr dirty="0"/>
              <a:t>-cel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066" y="5687568"/>
            <a:ext cx="54132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Bubble size = Relative patient population studied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61888" y="658368"/>
            <a:ext cx="60624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61888" y="658368"/>
            <a:ext cx="6062472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61888" y="950976"/>
            <a:ext cx="60624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89903" y="78913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99631" y="711855"/>
            <a:ext cx="56052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Head-to-Head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61888" y="1042415"/>
            <a:ext cx="6062472" cy="274320"/>
          </a:xfrm>
          <a:prstGeom prst="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53327" y="109728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10972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t>Bel-maf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1097280"/>
            <a:ext cx="2679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Competitor Avg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1888" y="1335024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61888" y="165963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53327" y="13898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7" y="1389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BCMA ADC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1389888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BCMA BiTE / CAR-T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988819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53327" y="17190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Line of therapy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4927" y="17190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2L+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53728" y="1719072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3L+ (mostly)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1888" y="1993391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61888" y="2318003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3327" y="204825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ORR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4927" y="204825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83%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2048255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65–75%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61888" y="2647188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3327" y="23774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CR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4927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3728" y="2377440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15–40%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61888" y="2651760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961888" y="2976372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53327" y="27066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mPFS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24927" y="27066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36.6 mo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3728" y="2706624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8–18 mo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61888" y="330555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53327" y="30358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HR (PFS)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7" y="30358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0.41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3728" y="3035808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N/A (single-arm)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61888" y="3310128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961888" y="3634740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053327" y="33649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Route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7" y="33649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IV Q3W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53728" y="3364992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IV/SC various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61888" y="3963924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053327" y="36941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Key AE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24927" y="36941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Keratopathy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53728" y="3694176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CRS / ICANS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61888" y="3968496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961888" y="4293108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053327" y="4023359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REMS/RMP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24927" y="402335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Ocular monitoring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53728" y="4023359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CRS monitoring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61888" y="4622292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053327" y="435254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Convenience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24927" y="4352543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Outpatient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53728" y="4352543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Step-up dosing / inpatient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61888" y="4626864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5961888" y="495147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053327" y="468172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HTA readiness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24927" y="46817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t>Strong (RCT)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53728" y="4681727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Moderate (single-arm)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64592" y="6053327"/>
            <a:ext cx="11859768" cy="4754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64592" y="6053327"/>
            <a:ext cx="36576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29184" y="6108191"/>
            <a:ext cx="1735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KEY DIFFERENTIATOR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9184" y="6272783"/>
            <a:ext cx="11530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Only BCMA therapy with Phase 3 RCT data demonstrating superiority over standard of care — strongest evidence package for HTA submissions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Company data on file · Competitive intelligence Q4 2026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658368"/>
            <a:ext cx="5865876" cy="28392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58368"/>
            <a:ext cx="5865876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2608" y="731519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721687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rPr dirty="0"/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731519"/>
            <a:ext cx="53172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11338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1133856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Phase 3 RCT data (DREAMM-7) — strongest evidence vs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14447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1444752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PFS HR 0.41 — highly significant, clinically meaningful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17556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1755648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ORR 83% with deep responses (CR 25%)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20665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2066544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Novel BCMA ADC mechanism — differentiated from BiTEs/CAR-T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237744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377440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Outpatient IV administration — no step-up dosing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8483" y="658368"/>
            <a:ext cx="5865876" cy="28392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8483" y="658368"/>
            <a:ext cx="5865876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86499" y="731519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6499" y="721687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EF4444"/>
                </a:solidFill>
                <a:latin typeface="Arial"/>
              </a:defRPr>
            </a:pPr>
            <a:r>
              <a:rPr dirty="0"/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9107" y="731519"/>
            <a:ext cx="53172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5" y="11338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9379" y="1133856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Ocular toxicity (keratopathy 43%) requires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3075" y="14447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9379" y="1444752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REMS program adds operational 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3075" y="17556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9379" y="1755648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Previous voluntary withdrawal (2020) — perception 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3075" y="20665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9379" y="2066544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Limited OS data at current follow-up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3075" y="237744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9379" y="2377440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IV administration vs emerging SC options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" y="3625596"/>
            <a:ext cx="5865876" cy="28392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4592" y="3625596"/>
            <a:ext cx="5865876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2608" y="369874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2608" y="368891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" y="3698748"/>
            <a:ext cx="53172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410108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4101084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Combination potential with other RRMM 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" y="44119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4411980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Earlier line expansion (1L maintenance studies)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" y="472287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4722876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Real-world evidence to confirm trial results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" y="503377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5033772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Orphan designation advantages in smaller markets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" y="53446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5344668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Digital companion for ocular monitoring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8483" y="3625596"/>
            <a:ext cx="5865876" cy="283921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58483" y="3625596"/>
            <a:ext cx="5865876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286499" y="369874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76667" y="368891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rPr dirty="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9107" y="3698748"/>
            <a:ext cx="53172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3075" y="410108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9379" y="4101084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Rapid competitive entry (teclistamab, talquetamab, elranatamab)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3075" y="44119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9379" y="4411980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CAR-T moving to earlier lines (CARTITUDE-4)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3075" y="472287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69379" y="4722876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Payer pushback on BCMA therapy costs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3075" y="503377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69379" y="5033772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Generic bortezomib as comparator limits incremental value perception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23075" y="53446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69379" y="5344668"/>
            <a:ext cx="53903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Evolving treatment sequencing guidelines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Internal assessment · Medical Affairs Q1 2027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658368"/>
            <a:ext cx="11859768" cy="140589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58368"/>
            <a:ext cx="54864" cy="14058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9184" y="74980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" y="76809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68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74980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74980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Phase 3 RCT data (DREAMM-7) — strongest evidence vs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98755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864" y="98755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PFS HR 0.41 — highly significant, clinically meaningful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1225295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864" y="1225295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ORR 83% with deep responses (CR 25%)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74980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74980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Novel BCMA ADC mechanism — differentiated from BiTEs/CAR-T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98755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98755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Outpatient IV administration — no step-up dosing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" y="2155698"/>
            <a:ext cx="11859768" cy="140589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2155698"/>
            <a:ext cx="54864" cy="140589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9184" y="224713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" y="226542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26542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rPr dirty="0"/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24713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0864" y="224713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Ocular toxicity (keratopathy 43%) requires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48488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40864" y="248488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REMS program adds operational 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272262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0864" y="272262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Previous voluntary withdrawal (2020) — perception 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24713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8624" y="224713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Limited OS data at current follow-up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248488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4" y="248488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IV administration vs emerging SC options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" y="3653028"/>
            <a:ext cx="11859768" cy="140589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4592" y="3653028"/>
            <a:ext cx="54864" cy="1405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29184" y="37444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" y="376275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62756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OPPORTUNITIES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374446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40864" y="374446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Combination potential with other RRMM 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982211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40864" y="398221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Earlier line expansion (1L maintenance studies)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421995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0864" y="421995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Real-world evidence to confirm trial results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374446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8624" y="374446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Orphan designation advantages in smaller markets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3982211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8624" y="398221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Digital companion for ocular monitoring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4592" y="5150358"/>
            <a:ext cx="11859768" cy="140589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64592" y="5150358"/>
            <a:ext cx="54864" cy="140589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29184" y="524179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9184" y="526008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26008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524179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0864" y="524179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Rapid competitive entry (teclistamab, talquetamab, elranatamab)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47954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40864" y="547954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CAR-T moving to earlier lines (CARTITUDE-4)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0" y="571728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40864" y="571728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Payer pushback on BCMA therapy costs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524179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8624" y="524179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Generic bortezomib as comparator limits incremental value perception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547954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8624" y="547954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Evolving treatment sequencing guidelines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Internal assessment · Medical Affairs Q1 2027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Custom</PresentationFormat>
  <Paragraphs>217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2026-03-31T21:54:55Z</dcterms:modified>
  <cp:category/>
</cp:coreProperties>
</file>