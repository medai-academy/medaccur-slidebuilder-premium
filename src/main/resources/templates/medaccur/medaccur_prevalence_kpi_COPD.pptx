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PREVALENCE &amp; EPIDEMIOLOGY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Dupixent (Dupilumab) · COPD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Phase 3 · RCT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Germany · 2027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Chronic Obstructive Pulmonary Disease (COPD)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Epidemiology &amp; Burden — Germany 2027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RKI 2023 · BOLD Study · COSYCONET · GOLD 2024 · GBD 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96% Confidence · medaccur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Incidence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~350K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RKI Gesundheitsberichterstattung 2023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0128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310128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47288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Prevalence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7288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6.8M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BOLD Study / GEDA 2022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163056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00216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GOLD 3-4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~1.2M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COSYCONET Registry 2023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5984" y="1234440"/>
            <a:ext cx="2715768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015984" y="1234440"/>
            <a:ext cx="2715768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53144" y="1417320"/>
            <a:ext cx="2441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Calibri"/>
              </a:defRPr>
            </a:pPr>
            <a:r>
              <a:t>5-Year Mortality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53144" y="1645920"/>
            <a:ext cx="24414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  <a:latin typeface="Calibri"/>
              </a:defRPr>
            </a:pPr>
            <a:r>
              <a:t>26%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2286000"/>
            <a:ext cx="2441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Calibri"/>
              </a:defRPr>
            </a:pPr>
            <a:r>
              <a:t>Vogelmeier et al. Lancet RM 2023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880360"/>
            <a:ext cx="11274552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299008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8B5CF6"/>
                </a:solidFill>
                <a:latin typeface="Calibri"/>
              </a:defRPr>
            </a:pPr>
            <a:r>
              <a:t>EPIDEMIOLOGY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Annual incidence Germany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337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~350,000 new diagnoses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3337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RKI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Age-standardized prevalence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37490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8.2% (≥40 years)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BOLD Study Germany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Median age at diagnosis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160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67 years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COSYCONET 2022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Male:Female ratio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1.3:1 (narrowing)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GBD 2021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Annual exacerbations (moderate-severe)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0" y="4983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0.8–1.3 per patient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98079" y="4983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GOLD Report 2024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Type 2 high phenotype (eos ≥300)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~25–30% of COPD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Pavord et al. Lancet 2023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62A2D8-AC20-EA7F-3141-E441F0A0F33C}"/>
              </a:ext>
            </a:extLst>
          </p:cNvPr>
          <p:cNvSpPr txBox="1"/>
          <p:nvPr/>
        </p:nvSpPr>
        <p:spPr>
          <a:xfrm>
            <a:off x="365760" y="109728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522CC5-2197-2524-2407-6BF842F28680}"/>
              </a:ext>
            </a:extLst>
          </p:cNvPr>
          <p:cNvSpPr txBox="1"/>
          <p:nvPr/>
        </p:nvSpPr>
        <p:spPr>
          <a:xfrm>
            <a:off x="698188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2026-04-01T21:22:18Z</dcterms:modified>
  <cp:category/>
</cp:coreProperties>
</file>